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300" r:id="rId2"/>
    <p:sldId id="288" r:id="rId3"/>
    <p:sldId id="266" r:id="rId4"/>
    <p:sldId id="268" r:id="rId5"/>
    <p:sldId id="291" r:id="rId6"/>
    <p:sldId id="258" r:id="rId7"/>
    <p:sldId id="260" r:id="rId8"/>
    <p:sldId id="289" r:id="rId9"/>
    <p:sldId id="261" r:id="rId10"/>
    <p:sldId id="263" r:id="rId11"/>
    <p:sldId id="290" r:id="rId12"/>
    <p:sldId id="269" r:id="rId13"/>
    <p:sldId id="270" r:id="rId14"/>
    <p:sldId id="293" r:id="rId15"/>
    <p:sldId id="271" r:id="rId16"/>
    <p:sldId id="273" r:id="rId17"/>
    <p:sldId id="295" r:id="rId18"/>
    <p:sldId id="274" r:id="rId19"/>
    <p:sldId id="275" r:id="rId20"/>
    <p:sldId id="279" r:id="rId21"/>
    <p:sldId id="280" r:id="rId22"/>
    <p:sldId id="298" r:id="rId23"/>
    <p:sldId id="281" r:id="rId24"/>
    <p:sldId id="299" r:id="rId25"/>
    <p:sldId id="256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5F127-EF7C-4D16-B460-0CE257C7E17B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5BB2A-7750-4F15-B86C-FEB94FE9D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28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8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CFF3-BF1F-4BD6-8F26-9473F7181517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2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9C58B-B211-4BC6-963B-76B52E94D0C3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07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4B27F-31E2-46C9-BF7A-C38C4C364403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2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8075-51DE-4107-978D-41FC04F1A4F7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8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068C-67A6-4414-981C-8C2232E2F99C}" type="datetime1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1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B5C8-18DD-40AE-8553-B83C70127718}" type="datetime1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322F-7D0E-411C-8DA4-79477EED5C69}" type="datetime1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BEE4-0D17-4967-A55A-9D49F8F868A6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16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176D-823E-40EA-91B8-586F45640FD6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9D73-9A86-4D2E-90F8-2ABD0A4F0D33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BE34-F8E3-4846-B925-CB397C44B477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0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756A6-8D5A-43AF-A80E-C71AD8E41BD1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19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2568ABC-F9C9-7674-7AC8-046D01A49FFB}"/>
              </a:ext>
            </a:extLst>
          </p:cNvPr>
          <p:cNvSpPr txBox="1"/>
          <p:nvPr/>
        </p:nvSpPr>
        <p:spPr>
          <a:xfrm>
            <a:off x="706581" y="2126746"/>
            <a:ext cx="482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Сравнение энтропии неупакованного и упакованного файлов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1D03276-700E-14FF-D019-58105A8A7754}"/>
              </a:ext>
            </a:extLst>
          </p:cNvPr>
          <p:cNvSpPr txBox="1"/>
          <p:nvPr/>
        </p:nvSpPr>
        <p:spPr>
          <a:xfrm>
            <a:off x="626302" y="5086198"/>
            <a:ext cx="57831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 – студ. </a:t>
            </a:r>
            <a:r>
              <a:rPr lang="ru-RU" sz="16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Небоваринков Степан Константинович</a:t>
            </a:r>
            <a:r>
              <a:rPr lang="ru-RU" sz="16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ТКИ-341, </a:t>
            </a:r>
            <a:r>
              <a:rPr lang="ru-RU" sz="16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Зверь Вероника Владимировна, 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ТКИ-341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 - д. т. н., проф. Сидоренко Валентина Геннадьевна, д. к. т. н.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19877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Энтропия. Формула Шеннона.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6166449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Энтропия – мера неопределённости или случайности данных.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1189"/>
            <a:ext cx="4715533" cy="16194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788" y="1690688"/>
            <a:ext cx="3801005" cy="2257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6958" y="3948428"/>
            <a:ext cx="4682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Фрагмент кода для расчёта энтропий файлов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11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3509"/>
          </a:xfrm>
        </p:spPr>
        <p:txBody>
          <a:bodyPr>
            <a:noAutofit/>
          </a:bodyPr>
          <a:lstStyle/>
          <a:p>
            <a:r>
              <a:rPr lang="ru-RU" sz="3700" dirty="0" smtClean="0"/>
              <a:t>Гистограммы, размеры </a:t>
            </a:r>
            <a:r>
              <a:rPr lang="ru-RU" sz="3700" dirty="0" smtClean="0"/>
              <a:t>(в Кб) и </a:t>
            </a:r>
            <a:r>
              <a:rPr lang="ru-RU" sz="3700" dirty="0" smtClean="0"/>
              <a:t>энтропии </a:t>
            </a:r>
            <a:r>
              <a:rPr lang="ru-RU" sz="3700" dirty="0" smtClean="0"/>
              <a:t>функции </a:t>
            </a:r>
            <a:r>
              <a:rPr lang="en-US" sz="3700" dirty="0" smtClean="0"/>
              <a:t>bubble sort</a:t>
            </a:r>
            <a:r>
              <a:rPr lang="ru-RU" sz="3700" dirty="0" smtClean="0"/>
              <a:t> на языке </a:t>
            </a:r>
            <a:r>
              <a:rPr lang="en-US" sz="3700" dirty="0" smtClean="0"/>
              <a:t>C++ </a:t>
            </a:r>
            <a:r>
              <a:rPr lang="ru-RU" sz="3700" dirty="0" smtClean="0"/>
              <a:t>в формате исполняемого </a:t>
            </a:r>
            <a:r>
              <a:rPr lang="ru-RU" sz="3700" dirty="0" smtClean="0"/>
              <a:t>файла без сжатия и с сильной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002" r="49496" b="1"/>
          <a:stretch/>
        </p:blipFill>
        <p:spPr>
          <a:xfrm>
            <a:off x="838200" y="2043178"/>
            <a:ext cx="4187331" cy="3528634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3"/>
          <a:srcRect l="46903"/>
          <a:stretch/>
        </p:blipFill>
        <p:spPr>
          <a:xfrm>
            <a:off x="838200" y="6092618"/>
            <a:ext cx="2172418" cy="533661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3"/>
          <a:srcRect r="53019"/>
          <a:stretch/>
        </p:blipFill>
        <p:spPr>
          <a:xfrm>
            <a:off x="838201" y="5561332"/>
            <a:ext cx="1913626" cy="531286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3</a:t>
            </a:fld>
            <a:endParaRPr lang="ru-RU"/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15030" r="49589"/>
          <a:stretch/>
        </p:blipFill>
        <p:spPr>
          <a:xfrm>
            <a:off x="6452161" y="2039937"/>
            <a:ext cx="4316877" cy="352139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r="51826"/>
          <a:stretch/>
        </p:blipFill>
        <p:spPr>
          <a:xfrm>
            <a:off x="6452161" y="5577256"/>
            <a:ext cx="3045124" cy="51536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l="48327"/>
          <a:stretch/>
        </p:blipFill>
        <p:spPr>
          <a:xfrm>
            <a:off x="6452161" y="6082674"/>
            <a:ext cx="3372929" cy="53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8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 smtClean="0"/>
              <a:t>Гистограмма, размер (в Кб) и энтропия функции </a:t>
            </a:r>
            <a:r>
              <a:rPr lang="en-US" sz="3700" dirty="0" smtClean="0"/>
              <a:t>bubble sort</a:t>
            </a:r>
            <a:r>
              <a:rPr lang="ru-RU" sz="3700" dirty="0" smtClean="0"/>
              <a:t> на языке </a:t>
            </a:r>
            <a:r>
              <a:rPr lang="en-US" sz="3700" dirty="0" smtClean="0"/>
              <a:t>C++</a:t>
            </a:r>
            <a:r>
              <a:rPr lang="ru-RU" sz="3700" dirty="0" smtClean="0"/>
              <a:t> в формате исполняемого </a:t>
            </a:r>
            <a:r>
              <a:rPr lang="ru-RU" sz="3700" dirty="0" smtClean="0"/>
              <a:t>файла без </a:t>
            </a:r>
            <a:r>
              <a:rPr lang="ru-RU" sz="3700" dirty="0"/>
              <a:t>сжатия и </a:t>
            </a:r>
            <a:r>
              <a:rPr lang="ru-RU" sz="3700" dirty="0" smtClean="0"/>
              <a:t>со средней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1382" r="49491"/>
          <a:stretch/>
        </p:blipFill>
        <p:spPr>
          <a:xfrm>
            <a:off x="6477818" y="1853850"/>
            <a:ext cx="4687812" cy="3529035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51580"/>
          <a:stretch/>
        </p:blipFill>
        <p:spPr>
          <a:xfrm>
            <a:off x="6477818" y="5372004"/>
            <a:ext cx="3088257" cy="53063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48473"/>
          <a:stretch/>
        </p:blipFill>
        <p:spPr>
          <a:xfrm>
            <a:off x="6477818" y="5892345"/>
            <a:ext cx="3372929" cy="544606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4</a:t>
            </a:fld>
            <a:endParaRPr lang="ru-RU"/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002" r="49496" b="1"/>
          <a:stretch/>
        </p:blipFill>
        <p:spPr>
          <a:xfrm>
            <a:off x="838200" y="1853850"/>
            <a:ext cx="4187331" cy="3528634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5"/>
          <a:srcRect l="46903"/>
          <a:stretch/>
        </p:blipFill>
        <p:spPr>
          <a:xfrm>
            <a:off x="838200" y="5903290"/>
            <a:ext cx="2172418" cy="533661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5"/>
          <a:srcRect r="53019"/>
          <a:stretch/>
        </p:blipFill>
        <p:spPr>
          <a:xfrm>
            <a:off x="838201" y="5372004"/>
            <a:ext cx="1913626" cy="53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1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Исполняемое приложение на с++ не сжимается при его формировании, мы видим низкую энтропию и большой размер. По мере сжатия ситуация меняется, размер уменьшается, а энтропия увеличивается.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005" y="2147428"/>
            <a:ext cx="4121989" cy="41219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r="50423"/>
          <a:stretch/>
        </p:blipFill>
        <p:spPr>
          <a:xfrm>
            <a:off x="327550" y="2147428"/>
            <a:ext cx="3707455" cy="42868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50840"/>
          <a:stretch/>
        </p:blipFill>
        <p:spPr>
          <a:xfrm>
            <a:off x="8188159" y="2147428"/>
            <a:ext cx="3676291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6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8565" y="325936"/>
            <a:ext cx="10515600" cy="1515927"/>
          </a:xfrm>
        </p:spPr>
        <p:txBody>
          <a:bodyPr>
            <a:noAutofit/>
          </a:bodyPr>
          <a:lstStyle/>
          <a:p>
            <a:r>
              <a:rPr lang="ru-RU" sz="3700" dirty="0" smtClean="0"/>
              <a:t>Гистограмма, размер (в Кб) и энтропия функции </a:t>
            </a:r>
            <a:r>
              <a:rPr lang="en-US" sz="3700" dirty="0" smtClean="0"/>
              <a:t>bubble sort</a:t>
            </a:r>
            <a:r>
              <a:rPr lang="ru-RU" sz="3700" dirty="0" smtClean="0"/>
              <a:t> на языке </a:t>
            </a:r>
            <a:r>
              <a:rPr lang="en-US" sz="3700" dirty="0" smtClean="0"/>
              <a:t>C#</a:t>
            </a:r>
            <a:r>
              <a:rPr lang="ru-RU" sz="3700" dirty="0" smtClean="0"/>
              <a:t> в формате исполняемого файла </a:t>
            </a:r>
            <a:r>
              <a:rPr lang="ru-RU" sz="3700" dirty="0"/>
              <a:t>без сжатия и с сильной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228" r="49256"/>
          <a:stretch/>
        </p:blipFill>
        <p:spPr>
          <a:xfrm>
            <a:off x="498565" y="1840851"/>
            <a:ext cx="4565141" cy="3819239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3"/>
          <a:srcRect r="53161"/>
          <a:stretch/>
        </p:blipFill>
        <p:spPr>
          <a:xfrm>
            <a:off x="498565" y="5660090"/>
            <a:ext cx="2000467" cy="550375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3"/>
          <a:srcRect l="46722" r="5812"/>
          <a:stretch/>
        </p:blipFill>
        <p:spPr>
          <a:xfrm>
            <a:off x="498565" y="6210465"/>
            <a:ext cx="2027230" cy="550375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6</a:t>
            </a:fld>
            <a:endParaRPr lang="ru-RU"/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86" r="49618"/>
          <a:stretch/>
        </p:blipFill>
        <p:spPr>
          <a:xfrm>
            <a:off x="6556869" y="1840851"/>
            <a:ext cx="4457296" cy="381923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r="51674"/>
          <a:stretch/>
        </p:blipFill>
        <p:spPr>
          <a:xfrm>
            <a:off x="6556868" y="5660090"/>
            <a:ext cx="3139539" cy="5503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l="48326"/>
          <a:stretch/>
        </p:blipFill>
        <p:spPr>
          <a:xfrm>
            <a:off x="6556867" y="6210465"/>
            <a:ext cx="3347050" cy="54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7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3283" y="452264"/>
            <a:ext cx="10515600" cy="1325563"/>
          </a:xfrm>
        </p:spPr>
        <p:txBody>
          <a:bodyPr>
            <a:noAutofit/>
          </a:bodyPr>
          <a:lstStyle/>
          <a:p>
            <a:r>
              <a:rPr lang="ru-RU" sz="3700" dirty="0" smtClean="0"/>
              <a:t>Гистограмма, размер (в Кб) и энтропия функции </a:t>
            </a:r>
            <a:r>
              <a:rPr lang="en-US" sz="3700" dirty="0" smtClean="0"/>
              <a:t>bubble sort</a:t>
            </a:r>
            <a:r>
              <a:rPr lang="ru-RU" sz="3700" dirty="0" smtClean="0"/>
              <a:t> на языке </a:t>
            </a:r>
            <a:r>
              <a:rPr lang="en-US" sz="3700" dirty="0" smtClean="0"/>
              <a:t>C#</a:t>
            </a:r>
            <a:r>
              <a:rPr lang="ru-RU" sz="3700" dirty="0" smtClean="0"/>
              <a:t> в формате исполняемого </a:t>
            </a:r>
            <a:r>
              <a:rPr lang="ru-RU" sz="3700" dirty="0" smtClean="0"/>
              <a:t>файла без </a:t>
            </a:r>
            <a:r>
              <a:rPr lang="ru-RU" sz="3700" dirty="0"/>
              <a:t>сжатия и со средней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8" r="49452" b="1"/>
          <a:stretch/>
        </p:blipFill>
        <p:spPr>
          <a:xfrm>
            <a:off x="6235130" y="1867581"/>
            <a:ext cx="5118670" cy="3819239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r="51608"/>
          <a:stretch/>
        </p:blipFill>
        <p:spPr>
          <a:xfrm>
            <a:off x="6235130" y="5686821"/>
            <a:ext cx="3240572" cy="54710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48690" r="4061"/>
          <a:stretch/>
        </p:blipFill>
        <p:spPr>
          <a:xfrm>
            <a:off x="6235130" y="6233924"/>
            <a:ext cx="3171561" cy="548394"/>
          </a:xfrm>
          <a:prstGeom prst="rect">
            <a:avLst/>
          </a:prstGeom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7</a:t>
            </a:fld>
            <a:endParaRPr lang="ru-RU"/>
          </a:p>
        </p:txBody>
      </p:sp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228" r="49256"/>
          <a:stretch/>
        </p:blipFill>
        <p:spPr>
          <a:xfrm>
            <a:off x="553283" y="1867581"/>
            <a:ext cx="4565141" cy="3819239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5"/>
          <a:srcRect r="53161"/>
          <a:stretch/>
        </p:blipFill>
        <p:spPr>
          <a:xfrm>
            <a:off x="553283" y="5686820"/>
            <a:ext cx="2000467" cy="550375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5"/>
          <a:srcRect l="46722" r="5812"/>
          <a:stretch/>
        </p:blipFill>
        <p:spPr>
          <a:xfrm>
            <a:off x="553283" y="6237195"/>
            <a:ext cx="2027230" cy="55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9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Исполняемое приложение на с# собирается аналогично с++, поэтому картина там идентичная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88" y="1559866"/>
            <a:ext cx="6962024" cy="472747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r="73870"/>
          <a:stretch/>
        </p:blipFill>
        <p:spPr>
          <a:xfrm>
            <a:off x="663459" y="1559866"/>
            <a:ext cx="1951529" cy="46679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76968"/>
          <a:stretch/>
        </p:blipFill>
        <p:spPr>
          <a:xfrm>
            <a:off x="9880770" y="2146414"/>
            <a:ext cx="1720181" cy="46679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50777" r="23581"/>
          <a:stretch/>
        </p:blipFill>
        <p:spPr>
          <a:xfrm>
            <a:off x="9880770" y="1559866"/>
            <a:ext cx="1915066" cy="46679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l="26434" r="49773"/>
          <a:stretch/>
        </p:blipFill>
        <p:spPr>
          <a:xfrm>
            <a:off x="838073" y="2146414"/>
            <a:ext cx="177704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4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0208" cy="1325563"/>
          </a:xfrm>
        </p:spPr>
        <p:txBody>
          <a:bodyPr>
            <a:noAutofit/>
          </a:bodyPr>
          <a:lstStyle/>
          <a:p>
            <a:r>
              <a:rPr lang="ru-RU" sz="3700" dirty="0" smtClean="0"/>
              <a:t>Гистограмма, размер (в Кб) и энтропия функции </a:t>
            </a:r>
            <a:r>
              <a:rPr lang="en-US" sz="3700" dirty="0" smtClean="0"/>
              <a:t>bubble sort</a:t>
            </a:r>
            <a:r>
              <a:rPr lang="ru-RU" sz="3700" dirty="0" smtClean="0"/>
              <a:t> на языке </a:t>
            </a:r>
            <a:r>
              <a:rPr lang="en-US" sz="3700" dirty="0" smtClean="0"/>
              <a:t>Python </a:t>
            </a:r>
            <a:r>
              <a:rPr lang="ru-RU" sz="3700" dirty="0" smtClean="0"/>
              <a:t>в формате исполняемого файла </a:t>
            </a:r>
            <a:r>
              <a:rPr lang="ru-RU" sz="3700" dirty="0"/>
              <a:t>без сжатия и с сильной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24661" r="49378"/>
          <a:stretch/>
        </p:blipFill>
        <p:spPr>
          <a:xfrm>
            <a:off x="838200" y="1920919"/>
            <a:ext cx="4553941" cy="3278241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3"/>
          <a:srcRect r="54220"/>
          <a:stretch/>
        </p:blipFill>
        <p:spPr>
          <a:xfrm>
            <a:off x="838201" y="5199160"/>
            <a:ext cx="1982638" cy="577447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3"/>
          <a:srcRect l="45611"/>
          <a:stretch/>
        </p:blipFill>
        <p:spPr>
          <a:xfrm>
            <a:off x="838200" y="5776607"/>
            <a:ext cx="2364848" cy="579743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9</a:t>
            </a:fld>
            <a:endParaRPr lang="ru-RU"/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61" r="49512"/>
          <a:stretch/>
        </p:blipFill>
        <p:spPr>
          <a:xfrm>
            <a:off x="6737862" y="1917848"/>
            <a:ext cx="4536863" cy="328131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r="52640"/>
          <a:stretch/>
        </p:blipFill>
        <p:spPr>
          <a:xfrm>
            <a:off x="6737862" y="5199159"/>
            <a:ext cx="3214749" cy="57744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l="47199"/>
          <a:stretch/>
        </p:blipFill>
        <p:spPr>
          <a:xfrm>
            <a:off x="6737862" y="5776607"/>
            <a:ext cx="3598358" cy="57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0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2570" cy="1325563"/>
          </a:xfrm>
        </p:spPr>
        <p:txBody>
          <a:bodyPr>
            <a:noAutofit/>
          </a:bodyPr>
          <a:lstStyle/>
          <a:p>
            <a:r>
              <a:rPr lang="ru-RU" sz="3700" dirty="0" smtClean="0"/>
              <a:t>Гистограмма, размер (в Кб) и энтропия функции </a:t>
            </a:r>
            <a:r>
              <a:rPr lang="en-US" sz="3700" dirty="0" smtClean="0"/>
              <a:t>bubble sort</a:t>
            </a:r>
            <a:r>
              <a:rPr lang="ru-RU" sz="3700" dirty="0" smtClean="0"/>
              <a:t> на языке </a:t>
            </a:r>
            <a:r>
              <a:rPr lang="en-US" sz="3700" dirty="0" smtClean="0"/>
              <a:t>Python</a:t>
            </a:r>
            <a:r>
              <a:rPr lang="ru-RU" sz="3700" dirty="0" smtClean="0"/>
              <a:t> в формате исполняемого </a:t>
            </a:r>
            <a:r>
              <a:rPr lang="ru-RU" sz="3700" dirty="0" smtClean="0"/>
              <a:t>файла без </a:t>
            </a:r>
            <a:r>
              <a:rPr lang="ru-RU" sz="3700" dirty="0"/>
              <a:t>сжатия и со средней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4411" r="49408"/>
          <a:stretch/>
        </p:blipFill>
        <p:spPr>
          <a:xfrm>
            <a:off x="6808312" y="2028946"/>
            <a:ext cx="4545488" cy="328450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51677"/>
          <a:stretch/>
        </p:blipFill>
        <p:spPr>
          <a:xfrm>
            <a:off x="6808311" y="5313448"/>
            <a:ext cx="3078999" cy="5752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48537"/>
          <a:stretch/>
        </p:blipFill>
        <p:spPr>
          <a:xfrm>
            <a:off x="6808310" y="5888667"/>
            <a:ext cx="3294660" cy="577964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10</a:t>
            </a:fld>
            <a:endParaRPr lang="ru-RU"/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24661" r="49378"/>
          <a:stretch/>
        </p:blipFill>
        <p:spPr>
          <a:xfrm>
            <a:off x="838200" y="2028946"/>
            <a:ext cx="4553941" cy="3278241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5"/>
          <a:srcRect r="54220"/>
          <a:stretch/>
        </p:blipFill>
        <p:spPr>
          <a:xfrm>
            <a:off x="838201" y="5307187"/>
            <a:ext cx="1982638" cy="577447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5"/>
          <a:srcRect l="45611"/>
          <a:stretch/>
        </p:blipFill>
        <p:spPr>
          <a:xfrm>
            <a:off x="838200" y="5884634"/>
            <a:ext cx="2364848" cy="57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5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Исполняемое приложение на </a:t>
            </a:r>
            <a:r>
              <a:rPr lang="ru-RU" dirty="0" err="1"/>
              <a:t>phyton</a:t>
            </a:r>
            <a:r>
              <a:rPr lang="ru-RU" dirty="0"/>
              <a:t> будет отличаться не сильно, так как сама библиотека, которая собирает .</a:t>
            </a:r>
            <a:r>
              <a:rPr lang="ru-RU" dirty="0" err="1"/>
              <a:t>exe</a:t>
            </a:r>
            <a:r>
              <a:rPr lang="ru-RU" dirty="0"/>
              <a:t> файл производит упаковку. Из-за этого, энтропия и размер файла меняются не сильно по мере дальнейшего сжатия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573" y="2112363"/>
            <a:ext cx="2652853" cy="409733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r="49158"/>
          <a:stretch/>
        </p:blipFill>
        <p:spPr>
          <a:xfrm>
            <a:off x="895570" y="2112363"/>
            <a:ext cx="3816634" cy="48584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50808"/>
          <a:stretch/>
        </p:blipFill>
        <p:spPr>
          <a:xfrm>
            <a:off x="7661090" y="2112363"/>
            <a:ext cx="3692709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3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 smtClean="0"/>
              <a:t>Гистограмма, </a:t>
            </a:r>
            <a:r>
              <a:rPr lang="ru-RU" sz="3700" dirty="0"/>
              <a:t>размер (в Кб) и энтропия</a:t>
            </a:r>
            <a:r>
              <a:rPr lang="ru-RU" sz="3700" dirty="0" smtClean="0"/>
              <a:t> изображения Котика в формате</a:t>
            </a:r>
            <a:r>
              <a:rPr lang="en-US" sz="3700" dirty="0"/>
              <a:t> jpg</a:t>
            </a:r>
            <a:r>
              <a:rPr lang="ru-RU" sz="3700" dirty="0" smtClean="0"/>
              <a:t> </a:t>
            </a:r>
            <a:r>
              <a:rPr lang="ru-RU" sz="3700" dirty="0" smtClean="0"/>
              <a:t>без сжатия и с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1" r="49581"/>
          <a:stretch/>
        </p:blipFill>
        <p:spPr>
          <a:xfrm>
            <a:off x="838200" y="1854679"/>
            <a:ext cx="4553309" cy="2910548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12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5508" b="1"/>
          <a:stretch/>
        </p:blipFill>
        <p:spPr>
          <a:xfrm>
            <a:off x="838200" y="4765227"/>
            <a:ext cx="3362794" cy="441073"/>
          </a:xfrm>
          <a:prstGeom prst="rect">
            <a:avLst/>
          </a:prstGeom>
        </p:spPr>
      </p:pic>
      <p:pic>
        <p:nvPicPr>
          <p:cNvPr id="6" name="Объект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21" r="38781"/>
          <a:stretch/>
        </p:blipFill>
        <p:spPr>
          <a:xfrm>
            <a:off x="6822912" y="1854679"/>
            <a:ext cx="4530888" cy="29105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/>
          <a:srcRect r="55823"/>
          <a:stretch/>
        </p:blipFill>
        <p:spPr>
          <a:xfrm>
            <a:off x="6822911" y="4765227"/>
            <a:ext cx="2329982" cy="44414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l="43912" r="5070"/>
          <a:stretch/>
        </p:blipFill>
        <p:spPr>
          <a:xfrm>
            <a:off x="8661001" y="4762155"/>
            <a:ext cx="2690778" cy="44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8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 smtClean="0"/>
              <a:t>Гистограмма</a:t>
            </a:r>
            <a:r>
              <a:rPr lang="ru-RU" sz="3700" dirty="0"/>
              <a:t>, размер (в Кб) и энтропия изображения Котика в формате</a:t>
            </a:r>
            <a:r>
              <a:rPr lang="en-US" sz="3700" dirty="0"/>
              <a:t> </a:t>
            </a:r>
            <a:r>
              <a:rPr lang="en-US" sz="3700" dirty="0" err="1"/>
              <a:t>png</a:t>
            </a:r>
            <a:r>
              <a:rPr lang="ru-RU" sz="3700" dirty="0" smtClean="0"/>
              <a:t>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09" r="49422"/>
          <a:stretch/>
        </p:blipFill>
        <p:spPr>
          <a:xfrm>
            <a:off x="838200" y="1889184"/>
            <a:ext cx="4570562" cy="3036859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13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4295" r="54887"/>
          <a:stretch/>
        </p:blipFill>
        <p:spPr>
          <a:xfrm>
            <a:off x="838200" y="4926043"/>
            <a:ext cx="1774895" cy="464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50886" t="4295"/>
          <a:stretch/>
        </p:blipFill>
        <p:spPr>
          <a:xfrm>
            <a:off x="2613095" y="4923049"/>
            <a:ext cx="1932316" cy="464974"/>
          </a:xfrm>
          <a:prstGeom prst="rect">
            <a:avLst/>
          </a:prstGeom>
        </p:spPr>
      </p:pic>
      <p:pic>
        <p:nvPicPr>
          <p:cNvPr id="8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99" r="38633"/>
          <a:stretch/>
        </p:blipFill>
        <p:spPr>
          <a:xfrm>
            <a:off x="6816644" y="1889184"/>
            <a:ext cx="4537156" cy="303386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l="4259" t="12936" r="59929"/>
          <a:stretch/>
        </p:blipFill>
        <p:spPr>
          <a:xfrm>
            <a:off x="6816643" y="4943005"/>
            <a:ext cx="1958198" cy="4644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l="43896" t="12936" r="9606"/>
          <a:stretch/>
        </p:blipFill>
        <p:spPr>
          <a:xfrm>
            <a:off x="8794302" y="4943005"/>
            <a:ext cx="2542584" cy="46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6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Форматы .</a:t>
            </a:r>
            <a:r>
              <a:rPr lang="ru-RU" dirty="0" err="1" smtClean="0"/>
              <a:t>jpg</a:t>
            </a:r>
            <a:r>
              <a:rPr lang="ru-RU" dirty="0" smtClean="0"/>
              <a:t> </a:t>
            </a:r>
            <a:r>
              <a:rPr lang="ru-RU" dirty="0"/>
              <a:t>и .</a:t>
            </a:r>
            <a:r>
              <a:rPr lang="ru-RU" dirty="0" err="1"/>
              <a:t>png</a:t>
            </a:r>
            <a:r>
              <a:rPr lang="ru-RU" dirty="0"/>
              <a:t> обладают высокой энтропией изначально, из-за того, что эти форматы сжимают исходные данные. Однако в .</a:t>
            </a:r>
            <a:r>
              <a:rPr lang="ru-RU" dirty="0" err="1"/>
              <a:t>png</a:t>
            </a:r>
            <a:r>
              <a:rPr lang="ru-RU" dirty="0"/>
              <a:t> происходит сжатие без потерь и это сильно влияет на размер.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914" y="1864561"/>
            <a:ext cx="5593886" cy="44917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6785" r="94623"/>
          <a:stretch/>
        </p:blipFill>
        <p:spPr>
          <a:xfrm>
            <a:off x="908993" y="1882768"/>
            <a:ext cx="655608" cy="53030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65094" t="3585"/>
          <a:stretch/>
        </p:blipFill>
        <p:spPr>
          <a:xfrm>
            <a:off x="1504216" y="1864561"/>
            <a:ext cx="4255698" cy="5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8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 smtClean="0"/>
              <a:t>Гистограмма</a:t>
            </a:r>
            <a:r>
              <a:rPr lang="ru-RU" sz="3700" dirty="0"/>
              <a:t>, размер (в Кб) и энтропия </a:t>
            </a:r>
            <a:r>
              <a:rPr lang="ru-RU" sz="3700" dirty="0" smtClean="0"/>
              <a:t>текстового документа со стихом Маяковского </a:t>
            </a:r>
            <a:r>
              <a:rPr lang="ru-RU" sz="3700" dirty="0"/>
              <a:t>в формате</a:t>
            </a:r>
            <a:r>
              <a:rPr lang="en-US" sz="3700" dirty="0"/>
              <a:t> </a:t>
            </a:r>
            <a:r>
              <a:rPr lang="en-US" sz="3700" dirty="0" err="1"/>
              <a:t>docx</a:t>
            </a:r>
            <a:r>
              <a:rPr lang="ru-RU" sz="3700" dirty="0" smtClean="0"/>
              <a:t>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258" r="49395"/>
          <a:stretch/>
        </p:blipFill>
        <p:spPr>
          <a:xfrm>
            <a:off x="838200" y="1863306"/>
            <a:ext cx="4578779" cy="4035501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15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1561" t="9662" r="55319"/>
          <a:stretch/>
        </p:blipFill>
        <p:spPr>
          <a:xfrm>
            <a:off x="838200" y="5898807"/>
            <a:ext cx="1725283" cy="47332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49928" t="9662"/>
          <a:stretch/>
        </p:blipFill>
        <p:spPr>
          <a:xfrm>
            <a:off x="2563483" y="5898807"/>
            <a:ext cx="2003405" cy="473321"/>
          </a:xfrm>
          <a:prstGeom prst="rect">
            <a:avLst/>
          </a:prstGeom>
        </p:spPr>
      </p:pic>
      <p:pic>
        <p:nvPicPr>
          <p:cNvPr id="7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1" r="38694"/>
          <a:stretch/>
        </p:blipFill>
        <p:spPr>
          <a:xfrm>
            <a:off x="6791906" y="1863306"/>
            <a:ext cx="4561894" cy="403550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t="7717" r="60395" b="17541"/>
          <a:stretch/>
        </p:blipFill>
        <p:spPr>
          <a:xfrm>
            <a:off x="6791905" y="5898806"/>
            <a:ext cx="1965956" cy="40161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l="43436" t="7717" r="6775" b="17541"/>
          <a:stretch/>
        </p:blipFill>
        <p:spPr>
          <a:xfrm>
            <a:off x="8749794" y="5898806"/>
            <a:ext cx="2471463" cy="40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1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 smtClean="0"/>
              <a:t>Гистограмма</a:t>
            </a:r>
            <a:r>
              <a:rPr lang="ru-RU" sz="3700" dirty="0"/>
              <a:t>, размер (в Кб) и энтропия текстового документа со стихом Маяковского в формате</a:t>
            </a:r>
            <a:r>
              <a:rPr lang="en-US" sz="3700" dirty="0"/>
              <a:t> txt</a:t>
            </a:r>
            <a:r>
              <a:rPr lang="ru-RU" sz="3700" dirty="0" smtClean="0"/>
              <a:t>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122" r="49654"/>
          <a:stretch/>
        </p:blipFill>
        <p:spPr>
          <a:xfrm>
            <a:off x="838200" y="1802922"/>
            <a:ext cx="4558613" cy="4171979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1356" t="4999" r="54674" b="-1"/>
          <a:stretch/>
        </p:blipFill>
        <p:spPr>
          <a:xfrm>
            <a:off x="838200" y="5974901"/>
            <a:ext cx="1742536" cy="4706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50841" t="4999" r="1" b="-1"/>
          <a:stretch/>
        </p:blipFill>
        <p:spPr>
          <a:xfrm>
            <a:off x="2580736" y="5974901"/>
            <a:ext cx="1948132" cy="470608"/>
          </a:xfrm>
          <a:prstGeom prst="rect">
            <a:avLst/>
          </a:prstGeom>
        </p:spPr>
      </p:pic>
      <p:pic>
        <p:nvPicPr>
          <p:cNvPr id="7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8" r="38464" b="1"/>
          <a:stretch/>
        </p:blipFill>
        <p:spPr>
          <a:xfrm>
            <a:off x="6799071" y="1802922"/>
            <a:ext cx="4554729" cy="417197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t="6418" r="59982" b="6383"/>
          <a:stretch/>
        </p:blipFill>
        <p:spPr>
          <a:xfrm>
            <a:off x="6799071" y="5974901"/>
            <a:ext cx="2184392" cy="44857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l="46839" t="6418" r="9922" b="6383"/>
          <a:stretch/>
        </p:blipFill>
        <p:spPr>
          <a:xfrm>
            <a:off x="8993527" y="5985918"/>
            <a:ext cx="2360273" cy="44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5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Текстовые файлы отличаются размером и энтропией в различных форматах. В .</a:t>
            </a:r>
            <a:r>
              <a:rPr lang="ru-RU" dirty="0" err="1"/>
              <a:t>txt</a:t>
            </a:r>
            <a:r>
              <a:rPr lang="ru-RU" dirty="0"/>
              <a:t> чистый текст, без сжатия – небольшой размер, небольшая энтропия. В .</a:t>
            </a:r>
            <a:r>
              <a:rPr lang="ru-RU" dirty="0" err="1"/>
              <a:t>docx</a:t>
            </a:r>
            <a:r>
              <a:rPr lang="ru-RU" dirty="0"/>
              <a:t> присутствует сжатие, но размер большой из-за внутренних зависимостей – большой размер, большая энтропия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818" y="4244650"/>
            <a:ext cx="4529982" cy="170802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2890" r="94552"/>
          <a:stretch/>
        </p:blipFill>
        <p:spPr>
          <a:xfrm>
            <a:off x="3690668" y="3008437"/>
            <a:ext cx="664234" cy="56013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65094" t="2890"/>
          <a:stretch/>
        </p:blipFill>
        <p:spPr>
          <a:xfrm>
            <a:off x="4354902" y="3008437"/>
            <a:ext cx="4255698" cy="56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700" dirty="0" smtClean="0"/>
              <a:t>Гистограмма</a:t>
            </a:r>
            <a:r>
              <a:rPr lang="ru-RU" sz="3700" dirty="0"/>
              <a:t>, размер (в Кб) и энтропия </a:t>
            </a:r>
            <a:r>
              <a:rPr lang="ru-RU" sz="3700" dirty="0" smtClean="0"/>
              <a:t>Таблички </a:t>
            </a:r>
            <a:r>
              <a:rPr lang="ru-RU" sz="3700" dirty="0"/>
              <a:t>в формате</a:t>
            </a:r>
            <a:r>
              <a:rPr lang="en-US" sz="3700" dirty="0"/>
              <a:t> </a:t>
            </a:r>
            <a:r>
              <a:rPr lang="en-US" sz="3700" dirty="0" err="1"/>
              <a:t>xlsb</a:t>
            </a:r>
            <a:r>
              <a:rPr lang="ru-RU" sz="3700" dirty="0" smtClean="0"/>
              <a:t>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6" r="49603"/>
          <a:stretch/>
        </p:blipFill>
        <p:spPr>
          <a:xfrm>
            <a:off x="917580" y="1922762"/>
            <a:ext cx="4568822" cy="4062563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18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55749"/>
          <a:stretch/>
        </p:blipFill>
        <p:spPr>
          <a:xfrm>
            <a:off x="917580" y="5985325"/>
            <a:ext cx="1736785" cy="4572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50342"/>
          <a:stretch/>
        </p:blipFill>
        <p:spPr>
          <a:xfrm>
            <a:off x="2654365" y="5985325"/>
            <a:ext cx="1949022" cy="457264"/>
          </a:xfrm>
          <a:prstGeom prst="rect">
            <a:avLst/>
          </a:prstGeom>
        </p:spPr>
      </p:pic>
      <p:pic>
        <p:nvPicPr>
          <p:cNvPr id="10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1" r="38487"/>
          <a:stretch/>
        </p:blipFill>
        <p:spPr>
          <a:xfrm>
            <a:off x="6819900" y="1921867"/>
            <a:ext cx="4533900" cy="40634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6973" t="13125" r="65022"/>
          <a:stretch/>
        </p:blipFill>
        <p:spPr>
          <a:xfrm>
            <a:off x="6819900" y="5984430"/>
            <a:ext cx="1561381" cy="45726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5"/>
          <a:srcRect l="44398" t="13125" r="5152"/>
          <a:stretch/>
        </p:blipFill>
        <p:spPr>
          <a:xfrm>
            <a:off x="8381281" y="5984429"/>
            <a:ext cx="2812765" cy="4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5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700" dirty="0" smtClean="0"/>
              <a:t>Гистограмма</a:t>
            </a:r>
            <a:r>
              <a:rPr lang="ru-RU" sz="3700" dirty="0"/>
              <a:t>, размер (в Кб) и энтропия Таблички в формате</a:t>
            </a:r>
            <a:r>
              <a:rPr lang="en-US" sz="3700" dirty="0"/>
              <a:t> </a:t>
            </a:r>
            <a:r>
              <a:rPr lang="en-US" sz="3700" dirty="0" err="1"/>
              <a:t>xlsx</a:t>
            </a:r>
            <a:r>
              <a:rPr lang="ru-RU" sz="3700" dirty="0" smtClean="0"/>
              <a:t>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329" r="49503"/>
          <a:stretch/>
        </p:blipFill>
        <p:spPr>
          <a:xfrm>
            <a:off x="838200" y="1952723"/>
            <a:ext cx="4577862" cy="3684327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19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55301"/>
          <a:stretch/>
        </p:blipFill>
        <p:spPr>
          <a:xfrm>
            <a:off x="838200" y="5637050"/>
            <a:ext cx="1737327" cy="4572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49878"/>
          <a:stretch/>
        </p:blipFill>
        <p:spPr>
          <a:xfrm>
            <a:off x="2575527" y="5636180"/>
            <a:ext cx="1948132" cy="457264"/>
          </a:xfrm>
          <a:prstGeom prst="rect">
            <a:avLst/>
          </a:prstGeom>
        </p:spPr>
      </p:pic>
      <p:pic>
        <p:nvPicPr>
          <p:cNvPr id="7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8" r="38431"/>
          <a:stretch/>
        </p:blipFill>
        <p:spPr>
          <a:xfrm>
            <a:off x="6799385" y="1952723"/>
            <a:ext cx="4554415" cy="369224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l="44785" t="5055" r="3991" b="11357"/>
          <a:stretch/>
        </p:blipFill>
        <p:spPr>
          <a:xfrm>
            <a:off x="8545021" y="5644972"/>
            <a:ext cx="2786332" cy="41406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t="5055" r="60176" b="11357"/>
          <a:stretch/>
        </p:blipFill>
        <p:spPr>
          <a:xfrm>
            <a:off x="6799385" y="5644972"/>
            <a:ext cx="2166239" cy="4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8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 таблицах мы видим среднюю энтропию у обоих файлов, так как форматы таблиц – это сжатые текстовые файлы с пометками столбцов и строк. Но для сжатия разных форматов используются разные алгоритмы. Из-за этого получается разница. Если сжать файлы еще сильнее </a:t>
            </a:r>
            <a:r>
              <a:rPr lang="ru-RU" dirty="0"/>
              <a:t>– </a:t>
            </a:r>
            <a:r>
              <a:rPr lang="ru-RU" dirty="0"/>
              <a:t>то энтропия увеличится, а размер уменьшится.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879" y="2559499"/>
            <a:ext cx="3923365" cy="397941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64953" t="6477"/>
          <a:stretch/>
        </p:blipFill>
        <p:spPr>
          <a:xfrm>
            <a:off x="2311879" y="3337149"/>
            <a:ext cx="4272951" cy="54683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6477" r="94670"/>
          <a:stretch/>
        </p:blipFill>
        <p:spPr>
          <a:xfrm>
            <a:off x="1662022" y="3337149"/>
            <a:ext cx="649857" cy="54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4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 smtClean="0"/>
              <a:t>Гистограмма</a:t>
            </a:r>
            <a:r>
              <a:rPr lang="ru-RU" sz="3700" dirty="0"/>
              <a:t>, размер (в Кб) и энтропия </a:t>
            </a:r>
            <a:r>
              <a:rPr lang="ru-RU" sz="3700" dirty="0" smtClean="0"/>
              <a:t>аудиофайла </a:t>
            </a:r>
            <a:r>
              <a:rPr lang="en-US" sz="3700" dirty="0"/>
              <a:t>Lord P. Rock Vocal (Bob)</a:t>
            </a:r>
            <a:r>
              <a:rPr lang="ru-RU" sz="3700" dirty="0" smtClean="0"/>
              <a:t> </a:t>
            </a:r>
            <a:r>
              <a:rPr lang="ru-RU" sz="3700" dirty="0"/>
              <a:t>в формате</a:t>
            </a:r>
            <a:r>
              <a:rPr lang="en-US" sz="3700" dirty="0"/>
              <a:t> </a:t>
            </a:r>
            <a:r>
              <a:rPr lang="en-US" sz="3700" dirty="0" err="1" smtClean="0"/>
              <a:t>acc</a:t>
            </a:r>
            <a:r>
              <a:rPr lang="ru-RU" sz="3700" dirty="0" smtClean="0"/>
              <a:t> 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21</a:t>
            </a:fld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5" r="42464"/>
          <a:stretch/>
        </p:blipFill>
        <p:spPr>
          <a:xfrm>
            <a:off x="838200" y="1898657"/>
            <a:ext cx="4586654" cy="3103196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t="6499" r="54982"/>
          <a:stretch/>
        </p:blipFill>
        <p:spPr>
          <a:xfrm>
            <a:off x="838200" y="5001853"/>
            <a:ext cx="1766893" cy="45426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l="49927" t="6499"/>
          <a:stretch/>
        </p:blipFill>
        <p:spPr>
          <a:xfrm>
            <a:off x="2605093" y="5007048"/>
            <a:ext cx="1965299" cy="454268"/>
          </a:xfrm>
          <a:prstGeom prst="rect">
            <a:avLst/>
          </a:prstGeom>
        </p:spPr>
      </p:pic>
      <p:pic>
        <p:nvPicPr>
          <p:cNvPr id="10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1" r="38619"/>
          <a:stretch/>
        </p:blipFill>
        <p:spPr>
          <a:xfrm>
            <a:off x="6808177" y="1898657"/>
            <a:ext cx="4545623" cy="311427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t="6481" r="59814"/>
          <a:stretch/>
        </p:blipFill>
        <p:spPr>
          <a:xfrm>
            <a:off x="6841245" y="5010678"/>
            <a:ext cx="2178278" cy="44544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5"/>
          <a:srcRect l="44219" t="6481" r="12585"/>
          <a:stretch/>
        </p:blipFill>
        <p:spPr>
          <a:xfrm>
            <a:off x="9019524" y="5006265"/>
            <a:ext cx="2341466" cy="44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700" dirty="0"/>
              <a:t>Гистограмма, размер (в Кб) и энтропия аудиофайла </a:t>
            </a:r>
            <a:r>
              <a:rPr lang="en-US" sz="3700" dirty="0"/>
              <a:t>Lord P. Rock Vocal (Bob)</a:t>
            </a:r>
            <a:r>
              <a:rPr lang="ru-RU" sz="3700" dirty="0"/>
              <a:t> в формате</a:t>
            </a:r>
            <a:r>
              <a:rPr lang="en-US" sz="3700" dirty="0"/>
              <a:t> </a:t>
            </a:r>
            <a:r>
              <a:rPr lang="en-US" sz="3700" dirty="0" smtClean="0"/>
              <a:t>mp3</a:t>
            </a:r>
            <a:r>
              <a:rPr lang="ru-RU" sz="3700" dirty="0" smtClean="0"/>
              <a:t> </a:t>
            </a:r>
            <a:r>
              <a:rPr lang="ru-RU" sz="3700" dirty="0"/>
              <a:t>без сжатия и с упаковкой</a:t>
            </a:r>
            <a:endParaRPr lang="ru-RU" sz="37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04" r="42478" b="-1"/>
          <a:stretch/>
        </p:blipFill>
        <p:spPr>
          <a:xfrm>
            <a:off x="838200" y="1863299"/>
            <a:ext cx="4577862" cy="313280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12201" r="55070"/>
          <a:stretch/>
        </p:blipFill>
        <p:spPr>
          <a:xfrm>
            <a:off x="838200" y="4996107"/>
            <a:ext cx="1767707" cy="43492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50630" t="12201"/>
          <a:stretch/>
        </p:blipFill>
        <p:spPr>
          <a:xfrm>
            <a:off x="2605907" y="4996107"/>
            <a:ext cx="1942381" cy="434929"/>
          </a:xfrm>
          <a:prstGeom prst="rect">
            <a:avLst/>
          </a:prstGeom>
        </p:spPr>
      </p:pic>
      <p:pic>
        <p:nvPicPr>
          <p:cNvPr id="8" name="Объект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17" r="39030"/>
          <a:stretch/>
        </p:blipFill>
        <p:spPr>
          <a:xfrm>
            <a:off x="6808240" y="1863299"/>
            <a:ext cx="4545560" cy="313280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t="8007" r="59999"/>
          <a:stretch/>
        </p:blipFill>
        <p:spPr>
          <a:xfrm>
            <a:off x="6828754" y="5005815"/>
            <a:ext cx="2175874" cy="4469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l="44018" t="8007" r="13176"/>
          <a:stretch/>
        </p:blipFill>
        <p:spPr>
          <a:xfrm>
            <a:off x="9004628" y="5005815"/>
            <a:ext cx="2328441" cy="44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 форматах аудиофайлов </a:t>
            </a:r>
            <a:r>
              <a:rPr lang="ru-RU" dirty="0" err="1"/>
              <a:t>acc</a:t>
            </a:r>
            <a:r>
              <a:rPr lang="ru-RU" dirty="0"/>
              <a:t> и mp3 уже присутствует сжатие, по этой причине мы получаем высокое значение энтропии у исходных файлов и при дальнейшем сжатии их размер и энтропия меняются слабо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5720"/>
            <a:ext cx="3595475" cy="35954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5"/>
          <a:stretch/>
        </p:blipFill>
        <p:spPr>
          <a:xfrm>
            <a:off x="6955085" y="2265720"/>
            <a:ext cx="3721768" cy="335870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r="94693"/>
          <a:stretch/>
        </p:blipFill>
        <p:spPr>
          <a:xfrm>
            <a:off x="3476445" y="1986972"/>
            <a:ext cx="646981" cy="55382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65189"/>
          <a:stretch/>
        </p:blipFill>
        <p:spPr>
          <a:xfrm>
            <a:off x="4123426" y="1986972"/>
            <a:ext cx="4244197" cy="55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2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Выводы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Можно увидеть, </a:t>
            </a:r>
            <a:r>
              <a:rPr lang="ru-RU" dirty="0"/>
              <a:t>что энтропия упакованных файлов выше, из-за того, что уменьшается количество повторяемых символов при сжатии.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Размер не упакованных файлов и упакованных отличается сильно в тех случаях, когда само приложение или формат не подразумевает сжатия (</a:t>
            </a:r>
            <a:r>
              <a:rPr lang="ru-RU" dirty="0" err="1"/>
              <a:t>docx</a:t>
            </a:r>
            <a:r>
              <a:rPr lang="ru-RU" dirty="0"/>
              <a:t> – сам сжимает содержимое, в отличии от </a:t>
            </a:r>
            <a:r>
              <a:rPr lang="ru-RU" dirty="0" err="1"/>
              <a:t>txt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80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Стёпа и </a:t>
            </a:r>
            <a:r>
              <a:rPr lang="ru-RU" dirty="0" smtClean="0"/>
              <a:t>Ника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sz="3100" dirty="0" smtClean="0"/>
              <a:t>Сравнение энтропий упакованных и неупакованных файлов</a:t>
            </a:r>
            <a:endParaRPr lang="ru-RU" sz="31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000" y="3602038"/>
            <a:ext cx="2174428" cy="25130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428" y="3602038"/>
            <a:ext cx="4740178" cy="251309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38606" y="3602038"/>
            <a:ext cx="2174428" cy="2513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9827" y="6207205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Тки-341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58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717</Words>
  <Application>Microsoft Office PowerPoint</Application>
  <PresentationFormat>Широкоэкранный</PresentationFormat>
  <Paragraphs>59</Paragraphs>
  <Slides>25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Tahoma</vt:lpstr>
      <vt:lpstr>Тема Office</vt:lpstr>
      <vt:lpstr>Презентация PowerPoint</vt:lpstr>
      <vt:lpstr>Энтропия. Формула Шеннона.</vt:lpstr>
      <vt:lpstr>Гистограммы, размеры (в Кб) и энтропии функции bubble sort на языке C++ в формате исполняемого файла без сжатия и с сильной упаковкой</vt:lpstr>
      <vt:lpstr>Гистограмма, размер (в Кб) и энтропия функции bubble sort на языке C++ в формате исполняемого файла без сжатия и со средней упаковкой</vt:lpstr>
      <vt:lpstr>Презентация PowerPoint</vt:lpstr>
      <vt:lpstr>Гистограмма, размер (в Кб) и энтропия функции bubble sort на языке C# в формате исполняемого файла без сжатия и с сильной упаковкой</vt:lpstr>
      <vt:lpstr>Гистограмма, размер (в Кб) и энтропия функции bubble sort на языке C# в формате исполняемого файла без сжатия и со средней упаковкой</vt:lpstr>
      <vt:lpstr>Презентация PowerPoint</vt:lpstr>
      <vt:lpstr>Гистограмма, размер (в Кб) и энтропия функции bubble sort на языке Python в формате исполняемого файла без сжатия и с сильной упаковкой</vt:lpstr>
      <vt:lpstr>Гистограмма, размер (в Кб) и энтропия функции bubble sort на языке Python в формате исполняемого файла без сжатия и со средней упаковкой</vt:lpstr>
      <vt:lpstr>Презентация PowerPoint</vt:lpstr>
      <vt:lpstr>Гистограмма, размер (в Кб) и энтропия изображения Котика в формате jpg без сжатия и с упаковкой</vt:lpstr>
      <vt:lpstr>Гистограмма, размер (в Кб) и энтропия изображения Котика в формате png без сжатия и с упаковкой</vt:lpstr>
      <vt:lpstr>Презентация PowerPoint</vt:lpstr>
      <vt:lpstr>Гистограмма, размер (в Кб) и энтропия текстового документа со стихом Маяковского в формате docx без сжатия и с упаковкой</vt:lpstr>
      <vt:lpstr>Гистограмма, размер (в Кб) и энтропия текстового документа со стихом Маяковского в формате txt без сжатия и с упаковкой</vt:lpstr>
      <vt:lpstr>Презентация PowerPoint</vt:lpstr>
      <vt:lpstr>Гистограмма, размер (в Кб) и энтропия Таблички в формате xlsb без сжатия и с упаковкой</vt:lpstr>
      <vt:lpstr>Гистограмма, размер (в Кб) и энтропия Таблички в формате xlsx без сжатия и с упаковкой</vt:lpstr>
      <vt:lpstr>Презентация PowerPoint</vt:lpstr>
      <vt:lpstr>Гистограмма, размер (в Кб) и энтропия аудиофайла Lord P. Rock Vocal (Bob) в формате acc  без сжатия и с упаковкой</vt:lpstr>
      <vt:lpstr>Гистограмма, размер (в Кб) и энтропия аудиофайла Lord P. Rock Vocal (Bob) в формате mp3 без сжатия и с упаковкой</vt:lpstr>
      <vt:lpstr>Презентация PowerPoint</vt:lpstr>
      <vt:lpstr>Выводы</vt:lpstr>
      <vt:lpstr>Стёпа и Ника Сравнение энтропий упакованных и неупакованных файлов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Вероника Зверь</cp:lastModifiedBy>
  <cp:revision>36</cp:revision>
  <dcterms:created xsi:type="dcterms:W3CDTF">2026-02-11T19:46:24Z</dcterms:created>
  <dcterms:modified xsi:type="dcterms:W3CDTF">2026-02-19T09:26:41Z</dcterms:modified>
</cp:coreProperties>
</file>