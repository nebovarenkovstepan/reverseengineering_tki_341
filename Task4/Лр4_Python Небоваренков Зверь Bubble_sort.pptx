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72" r:id="rId2"/>
    <p:sldId id="270" r:id="rId3"/>
    <p:sldId id="271" r:id="rId4"/>
    <p:sldId id="258" r:id="rId5"/>
    <p:sldId id="259" r:id="rId6"/>
    <p:sldId id="260" r:id="rId7"/>
    <p:sldId id="261" r:id="rId8"/>
    <p:sldId id="264" r:id="rId9"/>
    <p:sldId id="277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26"/>
    <p:restoredTop sz="94667"/>
  </p:normalViewPr>
  <p:slideViewPr>
    <p:cSldViewPr snapToGrid="0">
      <p:cViewPr varScale="1">
        <p:scale>
          <a:sx n="94" d="100"/>
          <a:sy n="94" d="100"/>
        </p:scale>
        <p:origin x="63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BAFB4-5510-574D-86CE-C19EF2B42204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F4B505-333F-5443-AB4B-55FDA2D7E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80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F6830-4DAA-A53A-DBC6-2B31DE0E7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698357-FF67-D643-86B0-01A69803F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607506-713B-B73C-58AB-553822FA9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82E-8406-E949-9BDA-3161F01F6A39}" type="datetime1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839FC2-6E41-3096-3ECF-A9B51FCB0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FD556B-A598-C36F-18D5-80A0E5DB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45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FD57A-E021-CDCC-DCFA-DA8E2C5F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F4B259-9F37-4FD4-5800-CBEABF660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C19F06-4037-68E1-5067-15B079DB9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2137-869F-124E-AD6A-013DA00A3F47}" type="datetime1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002A7D-E410-4632-FAF9-D3ECE5E2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823628-5D46-3EFE-0018-AB894A01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096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DAA66-C678-D260-4C68-44F55E7E3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9798D5-7DBD-9406-876F-2FC6C5E5D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780257-FA24-8454-9A13-57E9FB40E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8E1F7-411F-FC40-89DE-55DB480AAE63}" type="datetime1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12C31C-5FAC-7AB9-BBB1-19658DFD4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6DED08-919A-A0FB-2DF1-50DBC6D7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7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3BBE5-A9B2-3028-C298-5B6DD673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FFC7B8-C1F1-6CDA-4B13-2D2EFB767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B741E1-0B52-62AA-4F26-ED201C559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77B028-EDC7-28EE-38A2-666B6EE9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FE0A-851A-A244-B1D2-4B5649C57CA6}" type="datetime1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809D0C-464E-EE7F-74E2-DB993B4D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4A6677-7B78-C3F5-E787-8B4877D5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68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50D4E-2853-0433-2B86-8A126F77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C69172-07D5-E59B-3B31-6E2E408AC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82E44E-F136-599B-50FC-8C56C5B7E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4F49DE-D3F8-9D4C-1A5B-9D631E507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ACEABCD-EF84-9281-658B-6E8F6FCB1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8832499-F686-FB66-805E-F01EBDFF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008E-4B1B-C548-8956-97711596B574}" type="datetime1">
              <a:rPr lang="ru-RU" smtClean="0"/>
              <a:t>26.03.2026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7859144-F347-1389-67C7-196A2D08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CA24E7-C493-0D13-8EB8-5316A0C9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6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8A55B-FC8F-6E80-C0E4-4D2BB05A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1564A2B-CDAA-0FE9-E96B-AF9A2DE6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67300-804D-CF49-9DB0-3A0D159F127D}" type="datetime1">
              <a:rPr lang="ru-RU" smtClean="0"/>
              <a:t>26.03.2026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BBBE46-0F13-B069-37B2-D58D93E3F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F1068D-AE32-03BE-AB87-4C6DEC39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33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A8F72A-8F68-FF67-131F-CB8B0900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6229-FC3F-EC48-AC78-1679AA1FEDCB}" type="datetime1">
              <a:rPr lang="ru-RU" smtClean="0"/>
              <a:t>26.03.2026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956251C-AFCB-66B3-8817-ACA349F4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F43C3D-47A5-1867-CE7B-78179873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458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05FFA-1106-96BD-A738-F80DE3F5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1589BE-88C8-02CE-C58C-27AC5AEA9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F75806C-D898-4AB7-4FD5-6D2246047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FCD970-19C0-8163-1555-20B899A6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06BD9-4DD2-7A45-84E4-A9AA7317B60B}" type="datetime1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4332D1-5B9B-DE3A-E011-AF0AD542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6B4920-2830-28D1-04C6-29704383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41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76431-18F5-8C40-9DE5-1752C8F70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1DD190-4D29-46B6-DF14-A85DAACB6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51D86D-96CE-1EE4-4DCB-9F966C1F0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63B7FC-18F8-9BB0-A127-64E78BBB3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7B00-35E3-9F48-AF56-B6CA106F8B38}" type="datetime1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D92EB7-2000-9703-B902-6993319D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23BCA5-38F8-94C3-D41E-EA833905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67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EB823-1686-02E6-3533-BB6B9A7CE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4F57B2-4FAF-2ED2-2663-616B23261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3CA1A4-847D-C9EF-9C6E-8437B24C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0DC4-518B-6845-83BC-0FF75AC396BA}" type="datetime1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5DE0A0-EBDC-C10D-E20D-F553F6D5D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6D9EB4-C94B-0F1A-D5BA-25D60CE2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25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0834C73-D577-6C37-17F7-1C896C080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7BBF50-B994-1438-5C0A-B75A0C5EF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22F52E-FD68-59F5-5777-31F247EA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A9B2A-5F66-2444-8492-DF1C4D505A41}" type="datetime1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127BC8-5F91-4CE6-744A-339CC679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7D14CD-FE2B-8CB9-B7E0-BBED06346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8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89051E-13DB-963A-72FB-8C3727A1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70B3DA-A627-3D34-EB6E-DB5D02D04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F7BFC9-D89C-A681-7B02-6E40D014D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7C91E-D92D-154E-A5B5-4C0C70C715C8}" type="datetime1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C081CF-A378-17D6-D3E4-74A8C7D29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91AF09-AB47-3F0E-4B0D-37B2E5F70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7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Небоваренков С. К.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Зверь В. В.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Профессор, д.т.н. Сидоренко Валентина Генадьевна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доцент, к.т.н.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1585769-B3AA-876A-EE51-AC18D3A32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740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Исходные данные на языке </a:t>
            </a:r>
            <a:r>
              <a:rPr lang="en" dirty="0"/>
              <a:t>C++</a:t>
            </a:r>
            <a:br>
              <a:rPr lang="en" dirty="0"/>
            </a:br>
            <a:r>
              <a:rPr lang="ru-RU" dirty="0"/>
              <a:t>В качестве исходных данных используется программное обеспечение из первой лабораторной работы, реализующее алгоритм сортировки пузырьком.</a:t>
            </a:r>
          </a:p>
          <a:p>
            <a:pPr marL="0" indent="0">
              <a:buNone/>
            </a:pPr>
            <a:r>
              <a:rPr lang="ru-RU" dirty="0"/>
              <a:t>Для конвертации программного обеспечения в язык</a:t>
            </a:r>
            <a:r>
              <a:rPr lang="en-US" dirty="0"/>
              <a:t> Python</a:t>
            </a:r>
            <a:r>
              <a:rPr lang="ru-RU" dirty="0"/>
              <a:t> выполнялось с использованием искусственного интеллекта </a:t>
            </a:r>
            <a:r>
              <a:rPr lang="en-US" dirty="0"/>
              <a:t>Gemini 3 Pro. </a:t>
            </a: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8892F5-261E-EFA2-E27B-9FF36F06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2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52E4423-0B3B-C26A-23A8-9CAE68A76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" y="111351"/>
            <a:ext cx="9855200" cy="1325563"/>
          </a:xfrm>
        </p:spPr>
        <p:txBody>
          <a:bodyPr/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Конвертация в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7853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492FB-6C76-143E-FCB2-C2A952AF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40647"/>
            <a:ext cx="6614160" cy="1325563"/>
          </a:xfrm>
        </p:spPr>
        <p:txBody>
          <a:bodyPr/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Конечный текст на языке </a:t>
            </a:r>
            <a:r>
              <a:rPr lang="e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7D041-9EA8-C025-E595-E4A70F620EE4}"/>
              </a:ext>
            </a:extLst>
          </p:cNvPr>
          <p:cNvSpPr txBox="1"/>
          <p:nvPr/>
        </p:nvSpPr>
        <p:spPr>
          <a:xfrm>
            <a:off x="5303520" y="1310421"/>
            <a:ext cx="5536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применения правок был получен итоговый, успешно компилируемый листинг программы на языке </a:t>
            </a:r>
            <a:r>
              <a:rPr lang="e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Python.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DA46F9E5-39EC-6196-1D5E-41BCCE893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3ED601-8480-0DAC-8576-D9F9FA58E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25" y="233680"/>
            <a:ext cx="4407402" cy="542036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81E93DC-E1BD-140D-BBB0-0034636DE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280" y="3263726"/>
            <a:ext cx="4805378" cy="33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40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57213-D8A6-2D11-9875-87CEF3D1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dirty="0"/>
              <a:t> и С</a:t>
            </a:r>
            <a:r>
              <a:rPr lang="en-US" dirty="0"/>
              <a:t>utter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4FA325-BC11-787F-FA47-F100B258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4</a:t>
            </a:fld>
            <a:endParaRPr lang="ru-RU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3509DBF2-63F2-E74F-1C70-E3D3CE7B4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9000" y="1719858"/>
            <a:ext cx="7000240" cy="1170353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09AD1B4-D9DC-0CF9-72D1-D84670274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375673"/>
            <a:ext cx="6365240" cy="12979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61C66B-C8A9-3560-10A1-6EC8C01365B0}"/>
              </a:ext>
            </a:extLst>
          </p:cNvPr>
          <p:cNvSpPr txBox="1"/>
          <p:nvPr/>
        </p:nvSpPr>
        <p:spPr>
          <a:xfrm>
            <a:off x="4699000" y="1350526"/>
            <a:ext cx="485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Псевдокод </a:t>
            </a:r>
            <a:r>
              <a:rPr lang="en-US" dirty="0"/>
              <a:t>main </a:t>
            </a:r>
            <a:r>
              <a:rPr lang="ru-RU" dirty="0"/>
              <a:t>на С (</a:t>
            </a:r>
            <a:r>
              <a:rPr lang="en-US" dirty="0"/>
              <a:t>Binary ninja)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C9D385-F9C1-6695-5094-C157729E29DA}"/>
              </a:ext>
            </a:extLst>
          </p:cNvPr>
          <p:cNvSpPr txBox="1"/>
          <p:nvPr/>
        </p:nvSpPr>
        <p:spPr>
          <a:xfrm>
            <a:off x="4622800" y="2948276"/>
            <a:ext cx="485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</a:t>
            </a:r>
            <a:r>
              <a:rPr lang="ru-RU" dirty="0"/>
              <a:t>на ассемблер (</a:t>
            </a:r>
            <a:r>
              <a:rPr lang="en-US" dirty="0"/>
              <a:t>Binary ninja)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6C3FD3-04F2-A2D8-DC3B-5B6497B3AAEF}"/>
              </a:ext>
            </a:extLst>
          </p:cNvPr>
          <p:cNvSpPr txBox="1"/>
          <p:nvPr/>
        </p:nvSpPr>
        <p:spPr>
          <a:xfrm>
            <a:off x="274320" y="2118360"/>
            <a:ext cx="3886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 сборке </a:t>
            </a:r>
            <a:r>
              <a:rPr lang="en-US" dirty="0"/>
              <a:t>.exe </a:t>
            </a:r>
            <a:r>
              <a:rPr lang="ru-RU" dirty="0"/>
              <a:t>файла использовался </a:t>
            </a:r>
            <a:r>
              <a:rPr lang="en-US" dirty="0" err="1"/>
              <a:t>pyinstaller</a:t>
            </a:r>
            <a:r>
              <a:rPr lang="en-US" dirty="0"/>
              <a:t> </a:t>
            </a:r>
            <a:r>
              <a:rPr lang="ru-RU" dirty="0"/>
              <a:t>который работает как архиватор и из-за этого анализ кода не возможен</a:t>
            </a:r>
            <a:r>
              <a:rPr lang="en-US" dirty="0"/>
              <a:t> </a:t>
            </a:r>
            <a:r>
              <a:rPr lang="ru-RU" dirty="0"/>
              <a:t>ни в одной из представленных программ, он будет разбросан по всему файлу. В них удалось обнаружить только функцию </a:t>
            </a:r>
            <a:r>
              <a:rPr lang="en-US" dirty="0"/>
              <a:t>main.</a:t>
            </a:r>
            <a:r>
              <a:rPr lang="ru-RU" dirty="0"/>
              <a:t> Далее, файл будет рассмотрен после разборки </a:t>
            </a:r>
            <a:r>
              <a:rPr lang="ru-RU" dirty="0" err="1"/>
              <a:t>байткод</a:t>
            </a:r>
            <a:r>
              <a:rPr lang="ru-RU" dirty="0"/>
              <a:t> (</a:t>
            </a:r>
            <a:r>
              <a:rPr lang="en-US" dirty="0"/>
              <a:t>.</a:t>
            </a:r>
            <a:r>
              <a:rPr lang="en-US" dirty="0" err="1"/>
              <a:t>pyc</a:t>
            </a:r>
            <a:r>
              <a:rPr lang="en-US" dirty="0"/>
              <a:t>) </a:t>
            </a:r>
            <a:r>
              <a:rPr lang="ru-RU" dirty="0"/>
              <a:t>через </a:t>
            </a:r>
            <a:r>
              <a:rPr lang="en" dirty="0"/>
              <a:t>pyinstxtractor.py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B96E4CF-D6F9-249F-B15F-F615D7EA7C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1906"/>
          <a:stretch/>
        </p:blipFill>
        <p:spPr>
          <a:xfrm>
            <a:off x="4699000" y="5104128"/>
            <a:ext cx="4729480" cy="169830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997F0B2-20B5-D922-0A27-24085F22950F}"/>
              </a:ext>
            </a:extLst>
          </p:cNvPr>
          <p:cNvSpPr txBox="1"/>
          <p:nvPr/>
        </p:nvSpPr>
        <p:spPr>
          <a:xfrm>
            <a:off x="4622800" y="47236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main </a:t>
            </a:r>
            <a:r>
              <a:rPr lang="ru-RU" dirty="0"/>
              <a:t>на ассемблер (</a:t>
            </a:r>
            <a:r>
              <a:rPr lang="en-US" dirty="0"/>
              <a:t>Cutter)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683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03EA41-9A7B-5273-2E62-E9FC3A9D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041"/>
            <a:ext cx="10515600" cy="1325563"/>
          </a:xfrm>
        </p:spPr>
        <p:txBody>
          <a:bodyPr/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FE1DBD-E45E-B7FF-E459-B2D0756D4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5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1B67D2C-73C7-60A0-B5F3-3BA8719A1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644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Для анализа </a:t>
            </a:r>
            <a:r>
              <a:rPr lang="ru-RU" sz="1800" dirty="0" err="1"/>
              <a:t>байткода</a:t>
            </a:r>
            <a:r>
              <a:rPr lang="ru-RU" sz="1800" dirty="0"/>
              <a:t> был использован модуль </a:t>
            </a:r>
            <a:r>
              <a:rPr lang="ru-RU" sz="1800" dirty="0" err="1"/>
              <a:t>dis</a:t>
            </a:r>
            <a:r>
              <a:rPr lang="ru-RU" sz="1800" dirty="0"/>
              <a:t>, позволяющий представить программу в виде последовательности инструкций.</a:t>
            </a:r>
          </a:p>
          <a:p>
            <a:pPr marL="0" indent="0">
              <a:buNone/>
            </a:pPr>
            <a:r>
              <a:rPr lang="ru-RU" sz="1800" dirty="0"/>
              <a:t>Поэтому его анализ отличается от классического реверс-инжиниринга нативных программ. Тем не менее, даже на уровне </a:t>
            </a:r>
            <a:r>
              <a:rPr lang="ru-RU" sz="1800" dirty="0" err="1"/>
              <a:t>байткода</a:t>
            </a:r>
            <a:r>
              <a:rPr lang="ru-RU" sz="1800" dirty="0"/>
              <a:t> возможно восстановить основную логику программы.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0EBD2DA-3472-BDB3-82F8-19BAA236B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" y="3938341"/>
            <a:ext cx="9855200" cy="219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853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546F37-3C5C-9712-A7E1-A48D03C76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378"/>
            <a:ext cx="10515600" cy="1325563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Bubble_sort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«псевдо» ассемблер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D958FCF-A328-943F-4A73-8A7D1FDA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6</a:t>
            </a:fld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3D1B1590-C464-92DC-B467-56B08332B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30461"/>
            <a:ext cx="2906557" cy="4351338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79E3422-C280-FF99-664A-560396CA8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07" y="1460941"/>
            <a:ext cx="35966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5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BD5D46-82ED-71EF-EEC1-105E38DA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00" y="0"/>
            <a:ext cx="10515600" cy="1325563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Bubble_sort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декомпиляция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F3631D-4EDE-B363-66B2-F27177DC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7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D506DC5-A1BA-A8B0-8E3A-FF9EAF909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AB13E0-8CB5-8939-E832-E48F9323D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1391333"/>
            <a:ext cx="11262360" cy="488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58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B4EF9-60E5-B96D-566F-F260B089E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00" y="365125"/>
            <a:ext cx="10864200" cy="678875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 Editor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98A95-DF14-1125-66AD-28878C899E7C}"/>
              </a:ext>
            </a:extLst>
          </p:cNvPr>
          <p:cNvSpPr txBox="1"/>
          <p:nvPr/>
        </p:nvSpPr>
        <p:spPr>
          <a:xfrm>
            <a:off x="489600" y="1110010"/>
            <a:ext cx="426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.text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содержит машинный код программы,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.data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изменяемые данные,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константы и строки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3A10B32-F88A-44BF-E482-B46017AC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8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E05478-0880-95AC-B7B7-F185AB759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998" y="328642"/>
            <a:ext cx="4851150" cy="292157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B9F9A33-B6F9-790C-2A69-D17B1CA6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732063"/>
            <a:ext cx="5524670" cy="119915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4C826FB-D136-3978-6E99-F883690B0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69" y="4079239"/>
            <a:ext cx="5529731" cy="1986873"/>
          </a:xfrm>
          <a:prstGeom prst="rect">
            <a:avLst/>
          </a:prstGeom>
        </p:spPr>
      </p:pic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D69CEA1C-EB60-990A-2252-5C5310E8DD29}"/>
              </a:ext>
            </a:extLst>
          </p:cNvPr>
          <p:cNvCxnSpPr/>
          <p:nvPr/>
        </p:nvCxnSpPr>
        <p:spPr>
          <a:xfrm>
            <a:off x="1158240" y="2679670"/>
            <a:ext cx="970280" cy="1399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9EAC413C-CCB6-8FD4-CDBE-744B089C4F32}"/>
              </a:ext>
            </a:extLst>
          </p:cNvPr>
          <p:cNvCxnSpPr/>
          <p:nvPr/>
        </p:nvCxnSpPr>
        <p:spPr>
          <a:xfrm>
            <a:off x="4216400" y="2067560"/>
            <a:ext cx="2138680" cy="1664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72C0CE33-9E88-0F89-2AA2-AAB41D0BE1CE}"/>
              </a:ext>
            </a:extLst>
          </p:cNvPr>
          <p:cNvCxnSpPr/>
          <p:nvPr/>
        </p:nvCxnSpPr>
        <p:spPr>
          <a:xfrm flipV="1">
            <a:off x="4663440" y="1168400"/>
            <a:ext cx="1813560" cy="208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863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243D-D83B-FC72-BCED-577224ACA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53449-04A0-2E7B-8E34-41811020A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/>
              <a:t>В ходе выполнения лабораторной работы был проведён анализ </a:t>
            </a:r>
            <a:r>
              <a:rPr lang="en" dirty="0"/>
              <a:t>Python-</a:t>
            </a:r>
            <a:r>
              <a:rPr lang="ru-RU" dirty="0"/>
              <a:t>программы, преобразованной и упакованной в исполняемый файл формата .</a:t>
            </a:r>
            <a:r>
              <a:rPr lang="en" dirty="0"/>
              <a:t>exe.</a:t>
            </a:r>
            <a:endParaRPr lang="ru-RU" dirty="0"/>
          </a:p>
          <a:p>
            <a:pPr marL="0" indent="0" algn="just">
              <a:buNone/>
            </a:pPr>
            <a:endParaRPr lang="en" dirty="0"/>
          </a:p>
          <a:p>
            <a:pPr marL="0" indent="0" algn="just">
              <a:buNone/>
            </a:pPr>
            <a:r>
              <a:rPr lang="ru-RU" dirty="0"/>
              <a:t>При исследовании исполняемого файла с использованием </a:t>
            </a:r>
            <a:r>
              <a:rPr lang="en" dirty="0"/>
              <a:t>Binary Ninja </a:t>
            </a:r>
            <a:r>
              <a:rPr lang="ru-RU" dirty="0"/>
              <a:t>установлено, что основная часть кода относится к загрузчику </a:t>
            </a:r>
            <a:r>
              <a:rPr lang="en" dirty="0"/>
              <a:t>PyInstaller, </a:t>
            </a:r>
            <a:r>
              <a:rPr lang="ru-RU" dirty="0"/>
              <a:t>обеспечивающему запуск программы. Пользовательская логика при этом не представлена напрямую в машинном коде.</a:t>
            </a:r>
          </a:p>
          <a:p>
            <a:pPr marL="0" indent="0" algn="just">
              <a:buNone/>
            </a:pPr>
            <a:r>
              <a:rPr lang="ru-RU" dirty="0"/>
              <a:t>Установлено, что анализ </a:t>
            </a:r>
            <a:r>
              <a:rPr lang="en" dirty="0"/>
              <a:t>Python-</a:t>
            </a:r>
            <a:r>
              <a:rPr lang="ru-RU" dirty="0"/>
              <a:t>программы, упакованной в .</a:t>
            </a:r>
            <a:r>
              <a:rPr lang="en" dirty="0"/>
              <a:t>exe, </a:t>
            </a:r>
            <a:r>
              <a:rPr lang="ru-RU" dirty="0"/>
              <a:t>требует извлечения и декомпиляции </a:t>
            </a:r>
            <a:r>
              <a:rPr lang="ru-RU" dirty="0" err="1"/>
              <a:t>байткода</a:t>
            </a:r>
            <a:r>
              <a:rPr lang="ru-RU" dirty="0"/>
              <a:t>, поскольку пользовательская логика не представлена напрямую в бинарном виде.</a:t>
            </a:r>
          </a:p>
          <a:p>
            <a:pPr marL="0" indent="0" algn="just">
              <a:buNone/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A118D6-8476-0CC9-F9BB-E3C3F50B2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8517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354</Words>
  <Application>Microsoft Office PowerPoint</Application>
  <PresentationFormat>Широкоэкранный</PresentationFormat>
  <Paragraphs>38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Тема Office</vt:lpstr>
      <vt:lpstr>Отчёт по лабораторной работе №4</vt:lpstr>
      <vt:lpstr>Конвертация в Python</vt:lpstr>
      <vt:lpstr>Конечный текст на языке Python</vt:lpstr>
      <vt:lpstr>Binary ninja и Сutter</vt:lpstr>
      <vt:lpstr>Dis</vt:lpstr>
      <vt:lpstr>Bubble_sort «псевдо» ассемблер</vt:lpstr>
      <vt:lpstr>Bubble_sort декомпиляция</vt:lpstr>
      <vt:lpstr>010 Editor 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№3</dc:title>
  <dc:creator>nbejmel@gmail.com</dc:creator>
  <cp:lastModifiedBy>Stepan Nebovarenkov</cp:lastModifiedBy>
  <cp:revision>19</cp:revision>
  <dcterms:created xsi:type="dcterms:W3CDTF">2026-03-17T18:00:15Z</dcterms:created>
  <dcterms:modified xsi:type="dcterms:W3CDTF">2026-03-26T07:25:09Z</dcterms:modified>
</cp:coreProperties>
</file>