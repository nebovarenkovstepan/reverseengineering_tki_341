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7" r:id="rId2"/>
    <p:sldId id="278" r:id="rId3"/>
    <p:sldId id="279" r:id="rId4"/>
    <p:sldId id="273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81" r:id="rId18"/>
    <p:sldId id="283" r:id="rId19"/>
    <p:sldId id="282" r:id="rId20"/>
    <p:sldId id="276" r:id="rId21"/>
    <p:sldId id="280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749" autoAdjust="0"/>
  </p:normalViewPr>
  <p:slideViewPr>
    <p:cSldViewPr snapToGrid="0">
      <p:cViewPr varScale="1">
        <p:scale>
          <a:sx n="90" d="100"/>
          <a:sy n="90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C684E2-121A-4D6B-9071-5C929EF90B75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D1AEF-DD74-4B85-93D8-3C2C0F18F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669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31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D1AEF-DD74-4B85-93D8-3C2C0F18F670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939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47F-6AF4-4318-A27B-4F8FC20FB9AC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4588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45611-9BEC-4F6E-A7A2-016B98ED9A5B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826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EA4DD-3B4D-4EAE-9A17-ACA5EF5AE5AE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606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AF9E-18B6-4C53-A9EB-01F4D00D3082}" type="datetime1">
              <a:rPr lang="ru-RU" smtClean="0"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5610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5B0F0-0CD9-4813-B860-AB929393F0BC}" type="datetime1">
              <a:rPr lang="ru-RU" smtClean="0"/>
              <a:t>09.04.2026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5894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CD37D-B4E5-478E-B1C6-9811DB3A2BC3}" type="datetime1">
              <a:rPr lang="ru-RU" smtClean="0"/>
              <a:t>09.04.2026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666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55336-877F-4B9E-ABA0-711209675E90}" type="datetime1">
              <a:rPr lang="ru-RU" smtClean="0"/>
              <a:t>09.04.2026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223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FBEC-B4E5-42F6-9401-C269C822CB37}" type="datetime1">
              <a:rPr lang="ru-RU" smtClean="0"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826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E4ED0-DB39-4DEB-BDB8-65B049CA9302}" type="datetime1">
              <a:rPr lang="ru-RU" smtClean="0"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224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1D271-C6DA-48C3-BCC1-D133AD7203D4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3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878F-82B3-4277-A62B-1A7C958B7AFD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754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87ADCC-E2E8-4FE7-9F77-8D106CD66237}" type="datetime1">
              <a:rPr lang="ru-RU" smtClean="0"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4312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зарисовка, диаграмма, Параллельный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434D5A-C08D-EBA0-4253-19400E1EC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000" y="0"/>
            <a:ext cx="1217624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568ABC-F9C9-7674-7AC8-046D01A49FFB}"/>
              </a:ext>
            </a:extLst>
          </p:cNvPr>
          <p:cNvSpPr txBox="1"/>
          <p:nvPr/>
        </p:nvSpPr>
        <p:spPr>
          <a:xfrm>
            <a:off x="626301" y="1457790"/>
            <a:ext cx="63869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Отчет по лабораторной работе № 7</a:t>
            </a:r>
          </a:p>
          <a:p>
            <a:endParaRPr lang="ru-RU" sz="2400" dirty="0"/>
          </a:p>
          <a:p>
            <a:r>
              <a:rPr lang="ru-RU" sz="2400" dirty="0" err="1"/>
              <a:t>KodusAI</a:t>
            </a:r>
            <a:r>
              <a:rPr lang="ru-RU" sz="2400" dirty="0"/>
              <a:t>. Вариант 12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03276-700E-14FF-D019-58105A8A7754}"/>
              </a:ext>
            </a:extLst>
          </p:cNvPr>
          <p:cNvSpPr txBox="1"/>
          <p:nvPr/>
        </p:nvSpPr>
        <p:spPr>
          <a:xfrm>
            <a:off x="626301" y="5086198"/>
            <a:ext cx="6386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Выполнили: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Небоваринков Степан Константинович, ТКИ-341,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Зверь Вероника Владимировна, ТКИ-341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Проверили: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 т. н., проф. Сидоренко Валентина Геннадьевна,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</a:t>
            </a:r>
            <a:r>
              <a:rPr lang="en-US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к. т. н.</a:t>
            </a:r>
            <a:r>
              <a:rPr lang="en-US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Сафронов Антон Игоревич </a:t>
            </a:r>
          </a:p>
        </p:txBody>
      </p:sp>
    </p:spTree>
    <p:extLst>
      <p:ext uri="{BB962C8B-B14F-4D97-AF65-F5344CB8AC3E}">
        <p14:creationId xmlns:p14="http://schemas.microsoft.com/office/powerpoint/2010/main" val="334633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FEFCA-721F-5CCD-3701-CDA33EDBA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Оглавление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34175C9-EA50-F874-3BAB-64A97D1D1B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371085"/>
              </p:ext>
            </p:extLst>
          </p:nvPr>
        </p:nvGraphicFramePr>
        <p:xfrm>
          <a:off x="838200" y="953450"/>
          <a:ext cx="9966158" cy="5468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802">
                  <a:extLst>
                    <a:ext uri="{9D8B030D-6E8A-4147-A177-3AD203B41FA5}">
                      <a16:colId xmlns:a16="http://schemas.microsoft.com/office/drawing/2014/main" val="141542384"/>
                    </a:ext>
                  </a:extLst>
                </a:gridCol>
                <a:gridCol w="1553356">
                  <a:extLst>
                    <a:ext uri="{9D8B030D-6E8A-4147-A177-3AD203B41FA5}">
                      <a16:colId xmlns:a16="http://schemas.microsoft.com/office/drawing/2014/main" val="2830357005"/>
                    </a:ext>
                  </a:extLst>
                </a:gridCol>
              </a:tblGrid>
              <a:tr h="3824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слайда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Слайд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713436"/>
                  </a:ext>
                </a:extLst>
              </a:tr>
              <a:tr h="28859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Информация об инструменте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48215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Анализируемые языки программирования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604760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Начало статического анализа кода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100265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Уведомление о начале работы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4330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Уведомление об успешной проверке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70835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Первая критическая ошибка (</a:t>
                      </a:r>
                      <a:r>
                        <a:rPr lang="ru-RU" altLang="ru-RU" sz="1400" i="1" dirty="0" err="1"/>
                        <a:t>shared_ptr</a:t>
                      </a:r>
                      <a:r>
                        <a:rPr lang="ru-RU" altLang="ru-RU" sz="1400" i="1" dirty="0"/>
                        <a:t> </a:t>
                      </a:r>
                      <a:r>
                        <a:rPr lang="ru-RU" altLang="ru-RU" sz="1400" dirty="0"/>
                        <a:t>между </a:t>
                      </a:r>
                      <a:r>
                        <a:rPr lang="ru-RU" altLang="ru-RU" sz="1400" i="1" dirty="0" err="1"/>
                        <a:t>Actor</a:t>
                      </a:r>
                      <a:r>
                        <a:rPr lang="ru-RU" altLang="ru-RU" sz="1400" dirty="0"/>
                        <a:t> и </a:t>
                      </a:r>
                      <a:r>
                        <a:rPr lang="ru-RU" altLang="ru-RU" sz="1400" i="1" dirty="0"/>
                        <a:t>Movie</a:t>
                      </a:r>
                      <a:r>
                        <a:rPr lang="ru-RU" alt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37162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Вторая критическая ошибка(бесконечный цикл у </a:t>
                      </a:r>
                      <a:r>
                        <a:rPr lang="en-US" sz="1400" i="1" dirty="0" err="1"/>
                        <a:t>add_geners</a:t>
                      </a:r>
                      <a:r>
                        <a:rPr lang="en-US" sz="1400" i="1" dirty="0"/>
                        <a:t> </a:t>
                      </a:r>
                      <a:r>
                        <a:rPr lang="ru-RU" sz="1400" dirty="0"/>
                        <a:t>и </a:t>
                      </a:r>
                      <a:r>
                        <a:rPr lang="en-US" sz="1400" i="1" dirty="0" err="1"/>
                        <a:t>add_actors</a:t>
                      </a:r>
                      <a:r>
                        <a:rPr lang="en-US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14779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Третья критическая ошибка (Хранение </a:t>
                      </a:r>
                      <a:r>
                        <a:rPr lang="ru-RU" sz="1400" i="1" dirty="0"/>
                        <a:t>Movie* </a:t>
                      </a:r>
                      <a:r>
                        <a:rPr lang="ru-RU" sz="1400" dirty="0"/>
                        <a:t>вместо </a:t>
                      </a:r>
                      <a:r>
                        <a:rPr lang="ru-RU" sz="1400" i="1" dirty="0" err="1"/>
                        <a:t>weak_ptr</a:t>
                      </a:r>
                      <a:r>
                        <a:rPr lang="ru-RU" sz="1400" i="1" dirty="0"/>
                        <a:t>&lt;Movie&gt;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00548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Четвертая критическая ошибка(не неинициализированная переменная в </a:t>
                      </a:r>
                      <a:r>
                        <a:rPr lang="en-US" sz="1400" i="1" dirty="0"/>
                        <a:t>order</a:t>
                      </a:r>
                      <a:r>
                        <a:rPr lang="en-US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13589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Пятая критическая ошибка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нулевой указатель)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08089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Шестая критическая ошибка(циклическая зависимость у </a:t>
                      </a:r>
                      <a:r>
                        <a:rPr lang="ru-RU" sz="1400" i="1" dirty="0" err="1"/>
                        <a:t>Movie.h</a:t>
                      </a:r>
                      <a:r>
                        <a:rPr lang="ru-RU" sz="1400" dirty="0"/>
                        <a:t>)</a:t>
                      </a:r>
                      <a:endParaRPr lang="ru-RU" sz="14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91089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Первая НЕ критическая ошибка(не инициализирован </a:t>
                      </a:r>
                      <a:r>
                        <a:rPr lang="ru-RU" sz="1400" i="1" dirty="0" err="1"/>
                        <a:t>std</a:t>
                      </a:r>
                      <a:r>
                        <a:rPr lang="ru-RU" sz="1400" i="1" dirty="0"/>
                        <a:t>::</a:t>
                      </a:r>
                      <a:r>
                        <a:rPr lang="ru-RU" sz="1400" i="1" dirty="0" err="1"/>
                        <a:t>shared_ptr</a:t>
                      </a:r>
                      <a:r>
                        <a:rPr lang="ru-RU" sz="1400" i="1" dirty="0"/>
                        <a:t>&lt;Movie&gt; </a:t>
                      </a:r>
                      <a:r>
                        <a:rPr lang="ru-RU" sz="1400" i="1" dirty="0" err="1"/>
                        <a:t>movie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83390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Вторая НЕ критическая ошибка (добавление актеров, вместо </a:t>
                      </a:r>
                      <a:r>
                        <a:rPr lang="ru-RU" sz="1400" dirty="0" err="1"/>
                        <a:t>режисеров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75894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Еще одна критическая ошибка(</a:t>
                      </a:r>
                      <a:r>
                        <a:rPr lang="ru-RU" sz="1400" dirty="0" err="1"/>
                        <a:t>отсутсвие</a:t>
                      </a:r>
                      <a:r>
                        <a:rPr lang="ru-RU" sz="1400" dirty="0"/>
                        <a:t> указателя на константное значение)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82693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Выводы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31568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Список источников и пожеланий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8282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793A1-D632-1688-2E92-6187FC1DF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52DFA-09F4-4FAF-913E-A5D4A31DEA7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84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3B81C3-6E4E-440D-1DB8-E0EEFA29E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инструменте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A589CD-7DE2-4645-B32A-BC604A3AA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Инструмент, а именно доступ к нему, не возможен в настоящее время без использования виртуального приватного сервера. 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Сам инструмент после применения настроек предстает в виде бота, который оставляет комментарии к коду в репозитории (</a:t>
            </a:r>
            <a:r>
              <a:rPr lang="en-US" i="1" dirty="0" err="1"/>
              <a:t>kody</a:t>
            </a:r>
            <a:r>
              <a:rPr lang="en-US" i="1" dirty="0"/>
              <a:t>-ai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Он может использоваться в </a:t>
            </a:r>
            <a:r>
              <a:rPr lang="en-US" i="1" dirty="0"/>
              <a:t>GitHub, GitLab, Bitbucket, Azure DevOps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был выбран </a:t>
            </a:r>
            <a:r>
              <a:rPr lang="en-US" i="1" dirty="0"/>
              <a:t>GitHub</a:t>
            </a:r>
            <a:r>
              <a:rPr lang="ru-RU" dirty="0"/>
              <a:t>, так как на нем есть достаточно интересный для анализа проект.</a:t>
            </a: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072A26-2A43-7A70-2020-6DCAA60C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6364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Анализируемые языки программирования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1048" y="1863305"/>
            <a:ext cx="43132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Так как читать сложно, учебное пособие после самого инструмента который надо использовать, было изучено только тогда, когда работа уже была проделана с другим кодом и языком программирования, в учебном пособии требуется анализировать код на </a:t>
            </a:r>
            <a:r>
              <a:rPr lang="en-US" sz="2400" dirty="0"/>
              <a:t>Python, </a:t>
            </a:r>
            <a:r>
              <a:rPr lang="ru-RU" sz="2400" dirty="0"/>
              <a:t>а мы рассмотрели </a:t>
            </a:r>
            <a:r>
              <a:rPr lang="ru-RU" sz="2400" dirty="0" err="1"/>
              <a:t>репозиторий</a:t>
            </a:r>
            <a:r>
              <a:rPr lang="ru-RU" sz="2400" dirty="0"/>
              <a:t> прошлого года на </a:t>
            </a:r>
            <a:r>
              <a:rPr lang="en-US" sz="2400" dirty="0"/>
              <a:t>C++. </a:t>
            </a:r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 descr="https://images.meme-arsenal.com/358b6731f9249382d53d7095de8d209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676"/>
          <a:stretch/>
        </p:blipFill>
        <p:spPr bwMode="auto">
          <a:xfrm>
            <a:off x="6001816" y="2087593"/>
            <a:ext cx="5783190" cy="3570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658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Начало статического анализа кода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72" y="2310063"/>
            <a:ext cx="6277069" cy="396240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37253" y="1530583"/>
            <a:ext cx="407741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рамках самостоятельной работы был проанализирован проект «</a:t>
            </a:r>
            <a:r>
              <a:rPr lang="ru-RU" i="1" dirty="0" err="1"/>
              <a:t>Filmoteka</a:t>
            </a:r>
            <a:r>
              <a:rPr lang="ru-RU" dirty="0"/>
              <a:t>» (система управления фильмотекой) на языке C++.</a:t>
            </a:r>
          </a:p>
          <a:p>
            <a:endParaRPr lang="ru-RU" dirty="0"/>
          </a:p>
          <a:p>
            <a:r>
              <a:rPr lang="ru-RU" i="1" dirty="0" err="1"/>
              <a:t>Film_Storage</a:t>
            </a:r>
            <a:r>
              <a:rPr lang="ru-RU" i="1" dirty="0"/>
              <a:t> </a:t>
            </a:r>
            <a:r>
              <a:rPr lang="ru-RU" dirty="0"/>
              <a:t>— библиотека для управления фильмами (классы </a:t>
            </a:r>
            <a:r>
              <a:rPr lang="ru-RU" dirty="0" err="1"/>
              <a:t>Person</a:t>
            </a:r>
            <a:r>
              <a:rPr lang="ru-RU" dirty="0"/>
              <a:t>, </a:t>
            </a:r>
            <a:r>
              <a:rPr lang="ru-RU" i="1" dirty="0" err="1"/>
              <a:t>Actor</a:t>
            </a:r>
            <a:r>
              <a:rPr lang="ru-RU" i="1" dirty="0"/>
              <a:t>, </a:t>
            </a:r>
            <a:r>
              <a:rPr lang="ru-RU" i="1" dirty="0" err="1"/>
              <a:t>Director</a:t>
            </a:r>
            <a:r>
              <a:rPr lang="ru-RU" i="1" dirty="0"/>
              <a:t>, </a:t>
            </a:r>
            <a:r>
              <a:rPr lang="ru-RU" i="1" dirty="0" err="1"/>
              <a:t>Genre</a:t>
            </a:r>
            <a:r>
              <a:rPr lang="ru-RU" i="1" dirty="0"/>
              <a:t>, </a:t>
            </a:r>
            <a:r>
              <a:rPr lang="ru-RU" i="1" dirty="0" err="1"/>
              <a:t>Movie</a:t>
            </a:r>
            <a:r>
              <a:rPr lang="ru-RU" i="1" dirty="0"/>
              <a:t>, </a:t>
            </a:r>
            <a:r>
              <a:rPr lang="ru-RU" i="1" dirty="0" err="1"/>
              <a:t>Order</a:t>
            </a:r>
            <a:r>
              <a:rPr lang="ru-RU" i="1" dirty="0"/>
              <a:t>, </a:t>
            </a:r>
            <a:r>
              <a:rPr lang="ru-RU" i="1" dirty="0" err="1"/>
              <a:t>Storage</a:t>
            </a:r>
            <a:r>
              <a:rPr lang="ru-RU" dirty="0"/>
              <a:t>)</a:t>
            </a:r>
          </a:p>
          <a:p>
            <a:endParaRPr lang="ru-RU" dirty="0"/>
          </a:p>
          <a:p>
            <a:r>
              <a:rPr lang="ru-RU" i="1" dirty="0" err="1"/>
              <a:t>Film_Second_Try</a:t>
            </a:r>
            <a:r>
              <a:rPr lang="ru-RU" i="1" dirty="0"/>
              <a:t> </a:t>
            </a:r>
            <a:r>
              <a:rPr lang="ru-RU" dirty="0"/>
              <a:t>— консольное клиентское приложение</a:t>
            </a:r>
          </a:p>
          <a:p>
            <a:endParaRPr lang="ru-RU" dirty="0"/>
          </a:p>
          <a:p>
            <a:r>
              <a:rPr lang="ru-RU" i="1" dirty="0" err="1"/>
              <a:t>Film_Storage_Tests</a:t>
            </a:r>
            <a:r>
              <a:rPr lang="ru-RU" i="1" dirty="0"/>
              <a:t> </a:t>
            </a:r>
            <a:r>
              <a:rPr lang="ru-RU" dirty="0"/>
              <a:t>— модульные тесты</a:t>
            </a: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694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 начале работы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12545"/>
            <a:ext cx="10347158" cy="1907757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490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успешной проверке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509" y="1690688"/>
            <a:ext cx="5238238" cy="40105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92506" y="1992702"/>
            <a:ext cx="45892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данном скриншоте показаны опции, которые были использованы при анализе </a:t>
            </a:r>
            <a:r>
              <a:rPr lang="ru-RU" dirty="0" err="1"/>
              <a:t>репозитория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42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418545" cy="1179730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Первая критическая ошибка (</a:t>
            </a:r>
            <a:r>
              <a:rPr lang="ru-RU" altLang="ru-RU" i="1" dirty="0" err="1"/>
              <a:t>shared_ptr</a:t>
            </a:r>
            <a:r>
              <a:rPr lang="ru-RU" altLang="ru-RU" i="1" dirty="0"/>
              <a:t> </a:t>
            </a:r>
            <a:r>
              <a:rPr lang="ru-RU" altLang="ru-RU" dirty="0"/>
              <a:t>между </a:t>
            </a:r>
            <a:r>
              <a:rPr lang="ru-RU" altLang="ru-RU" i="1" dirty="0" err="1"/>
              <a:t>Actor</a:t>
            </a:r>
            <a:r>
              <a:rPr lang="ru-RU" altLang="ru-RU" dirty="0"/>
              <a:t> и </a:t>
            </a:r>
            <a:r>
              <a:rPr lang="ru-RU" altLang="ru-RU" i="1" dirty="0"/>
              <a:t>Movie</a:t>
            </a:r>
            <a:r>
              <a:rPr lang="ru-RU" altLang="ru-RU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5163394" cy="484471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317412" y="1819546"/>
            <a:ext cx="447423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dirty="0" err="1"/>
              <a:t>shared_ptr</a:t>
            </a:r>
            <a:r>
              <a:rPr lang="ru-RU" altLang="ru-RU" dirty="0"/>
              <a:t> между </a:t>
            </a:r>
            <a:r>
              <a:rPr lang="ru-RU" altLang="ru-RU" dirty="0" err="1"/>
              <a:t>Actor</a:t>
            </a:r>
            <a:r>
              <a:rPr lang="ru-RU" altLang="ru-RU" dirty="0"/>
              <a:t> и </a:t>
            </a:r>
            <a:r>
              <a:rPr lang="ru-RU" altLang="ru-RU" dirty="0" err="1"/>
              <a:t>Movie</a:t>
            </a:r>
            <a:r>
              <a:rPr lang="ru-RU" altLang="ru-RU" dirty="0"/>
              <a:t> создаёт цикл, счётчики ссылок никогда не достигают нуля. Рекомендуется заменить один из указателей на </a:t>
            </a:r>
            <a:r>
              <a:rPr lang="ru-RU" altLang="ru-RU" dirty="0" err="1"/>
              <a:t>weak_ptr</a:t>
            </a:r>
            <a:r>
              <a:rPr lang="ru-RU" altLang="ru-RU" dirty="0"/>
              <a:t>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45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Вторая критическая ошибка(бесконечный цикл у </a:t>
            </a:r>
            <a:r>
              <a:rPr lang="en-US" i="1" dirty="0" err="1"/>
              <a:t>add_geners</a:t>
            </a:r>
            <a:r>
              <a:rPr lang="en-US" i="1" dirty="0"/>
              <a:t> </a:t>
            </a:r>
            <a:r>
              <a:rPr lang="ru-RU" dirty="0"/>
              <a:t>и </a:t>
            </a:r>
            <a:r>
              <a:rPr lang="en-US" i="1" dirty="0" err="1"/>
              <a:t>add_actors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5234587" cy="485835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523970" y="1690688"/>
            <a:ext cx="498022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Метод изменяет вектор, по которому итерируется (параметр </a:t>
            </a:r>
            <a:r>
              <a:rPr lang="ru-RU" dirty="0" err="1"/>
              <a:t>genres</a:t>
            </a:r>
            <a:r>
              <a:rPr lang="ru-RU" dirty="0"/>
              <a:t>), что приводит к бесконечному циклу и исчерпанию памяти.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493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Третья критическая ошибка (Хранение </a:t>
            </a:r>
            <a:r>
              <a:rPr lang="ru-RU" i="1" dirty="0"/>
              <a:t>Movie* </a:t>
            </a:r>
            <a:r>
              <a:rPr lang="ru-RU" dirty="0"/>
              <a:t>вместо </a:t>
            </a:r>
            <a:r>
              <a:rPr lang="ru-RU" i="1" dirty="0" err="1"/>
              <a:t>weak_ptr</a:t>
            </a:r>
            <a:r>
              <a:rPr lang="ru-RU" i="1" dirty="0"/>
              <a:t>&lt;Movie&gt;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28497"/>
            <a:ext cx="4833233" cy="441032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096000" y="23031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Хранение </a:t>
            </a:r>
            <a:r>
              <a:rPr lang="ru-RU" dirty="0" err="1"/>
              <a:t>Movie</a:t>
            </a:r>
            <a:r>
              <a:rPr lang="ru-RU" dirty="0"/>
              <a:t>* вместо </a:t>
            </a:r>
            <a:r>
              <a:rPr lang="ru-RU" dirty="0" err="1"/>
              <a:t>weak_ptr</a:t>
            </a:r>
            <a:r>
              <a:rPr lang="ru-RU" dirty="0"/>
              <a:t>&lt;</a:t>
            </a:r>
            <a:r>
              <a:rPr lang="ru-RU" dirty="0" err="1"/>
              <a:t>Movie</a:t>
            </a:r>
            <a:r>
              <a:rPr lang="ru-RU" dirty="0"/>
              <a:t>&gt; приводит к неопределённому поведению при доступе к освобождённой памяти.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389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Четвертая критическая ошибка(не неинициализированная переменная в </a:t>
            </a:r>
            <a:r>
              <a:rPr lang="en-US" i="1" dirty="0"/>
              <a:t>order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64687"/>
            <a:ext cx="4744519" cy="4551773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722189" y="2064687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Локальная переменная </a:t>
            </a:r>
            <a:r>
              <a:rPr lang="ru-RU" dirty="0" err="1"/>
              <a:t>order</a:t>
            </a:r>
            <a:r>
              <a:rPr lang="ru-RU" dirty="0"/>
              <a:t> скрывает член класса, оставляя его неинициализированным → разыменование нулевого указателя.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5351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Пятая критическая ошибка</a:t>
            </a:r>
            <a:r>
              <a:rPr lang="en-US" dirty="0"/>
              <a:t> (</a:t>
            </a:r>
            <a:r>
              <a:rPr lang="ru-RU" dirty="0"/>
              <a:t>нулевой указатель)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0943"/>
            <a:ext cx="4355403" cy="464963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541034" y="194094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При пустом хранилище фильмов метод разыменовывает нулевой указатель → крах приложения.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9547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Шестая критическая ошибка(циклическая зависимость у </a:t>
            </a:r>
            <a:r>
              <a:rPr lang="ru-RU" i="1" dirty="0" err="1"/>
              <a:t>Movie.h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1332"/>
            <a:ext cx="5458793" cy="468688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386423" y="2303579"/>
            <a:ext cx="508670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Включение </a:t>
            </a:r>
            <a:r>
              <a:rPr lang="ru-RU" dirty="0" err="1"/>
              <a:t>Movie.h</a:t>
            </a:r>
            <a:r>
              <a:rPr lang="ru-RU" dirty="0"/>
              <a:t> создаёт циклическую зависимость → ошибка компиляции.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442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375385" y="365125"/>
            <a:ext cx="11521439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Первая НЕ критическая ошибка(не инициализирован </a:t>
            </a:r>
            <a:r>
              <a:rPr lang="ru-RU" i="1" dirty="0" err="1"/>
              <a:t>std</a:t>
            </a:r>
            <a:r>
              <a:rPr lang="ru-RU" i="1" dirty="0"/>
              <a:t>::</a:t>
            </a:r>
            <a:r>
              <a:rPr lang="ru-RU" i="1" dirty="0" err="1"/>
              <a:t>shared_ptr</a:t>
            </a:r>
            <a:r>
              <a:rPr lang="ru-RU" i="1" dirty="0"/>
              <a:t>&lt;Movie&gt; </a:t>
            </a:r>
            <a:r>
              <a:rPr lang="ru-RU" i="1" dirty="0" err="1"/>
              <a:t>movie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38" y="1956129"/>
            <a:ext cx="5254362" cy="472071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208143" y="1956129"/>
            <a:ext cx="531674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Конструктор </a:t>
            </a:r>
            <a:r>
              <a:rPr lang="ru-RU" dirty="0" err="1"/>
              <a:t>Genre</a:t>
            </a:r>
            <a:r>
              <a:rPr lang="ru-RU" dirty="0"/>
              <a:t>(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&amp;) не инициализирует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&lt;</a:t>
            </a:r>
            <a:r>
              <a:rPr lang="ru-RU" dirty="0" err="1"/>
              <a:t>Movie</a:t>
            </a:r>
            <a:r>
              <a:rPr lang="ru-RU" dirty="0"/>
              <a:t>&gt; </a:t>
            </a:r>
            <a:r>
              <a:rPr lang="ru-RU" dirty="0" err="1"/>
              <a:t>movie</a:t>
            </a:r>
            <a:r>
              <a:rPr lang="ru-RU" dirty="0"/>
              <a:t>, оставляя его </a:t>
            </a:r>
            <a:r>
              <a:rPr lang="ru-RU" dirty="0" err="1"/>
              <a:t>nullptr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70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Вторая НЕ критическая ошибка (добавление актеров, вместо </a:t>
            </a:r>
            <a:r>
              <a:rPr lang="ru-RU" dirty="0" err="1"/>
              <a:t>режисеров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3298"/>
            <a:ext cx="4526986" cy="462453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523781" y="1983298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Метод называется </a:t>
            </a:r>
            <a:r>
              <a:rPr lang="ru-RU" dirty="0" err="1"/>
              <a:t>add_directors</a:t>
            </a:r>
            <a:r>
              <a:rPr lang="ru-RU" dirty="0"/>
              <a:t>, но добавляет элементы в </a:t>
            </a:r>
            <a:r>
              <a:rPr lang="ru-RU" dirty="0" err="1"/>
              <a:t>this</a:t>
            </a:r>
            <a:r>
              <a:rPr lang="ru-RU" dirty="0"/>
              <a:t>-&gt;</a:t>
            </a:r>
            <a:r>
              <a:rPr lang="ru-RU" dirty="0" err="1"/>
              <a:t>actors</a:t>
            </a:r>
            <a:r>
              <a:rPr lang="ru-RU" dirty="0"/>
              <a:t> (а не в </a:t>
            </a:r>
            <a:r>
              <a:rPr lang="ru-RU" dirty="0" err="1"/>
              <a:t>this</a:t>
            </a:r>
            <a:r>
              <a:rPr lang="ru-RU" dirty="0"/>
              <a:t>-&gt;</a:t>
            </a:r>
            <a:r>
              <a:rPr lang="ru-RU" dirty="0" err="1"/>
              <a:t>directors</a:t>
            </a:r>
            <a:r>
              <a:rPr lang="ru-RU" dirty="0"/>
              <a:t>). Также принимает </a:t>
            </a:r>
            <a:r>
              <a:rPr lang="ru-RU" dirty="0" err="1"/>
              <a:t>Actor</a:t>
            </a:r>
            <a:r>
              <a:rPr lang="ru-RU" dirty="0"/>
              <a:t>* вместо </a:t>
            </a:r>
            <a:r>
              <a:rPr lang="ru-RU" dirty="0" err="1"/>
              <a:t>Director</a:t>
            </a:r>
            <a:r>
              <a:rPr lang="ru-RU" dirty="0"/>
              <a:t>*.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4316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Еще одна критическая ошибка(</a:t>
            </a:r>
            <a:r>
              <a:rPr lang="ru-RU" dirty="0" err="1"/>
              <a:t>отсутсвие</a:t>
            </a:r>
            <a:r>
              <a:rPr lang="ru-RU" dirty="0"/>
              <a:t> указателя на константное значение)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4633"/>
            <a:ext cx="4759089" cy="436869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765321" y="2204633"/>
            <a:ext cx="558847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заголовке объявлен </a:t>
            </a:r>
            <a:r>
              <a:rPr lang="ru-RU" dirty="0" err="1"/>
              <a:t>ToString</a:t>
            </a:r>
            <a:r>
              <a:rPr lang="ru-RU" dirty="0"/>
              <a:t>(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Order</a:t>
            </a:r>
            <a:r>
              <a:rPr lang="ru-RU" dirty="0"/>
              <a:t>&amp;), в реализации — </a:t>
            </a:r>
            <a:r>
              <a:rPr lang="ru-RU" dirty="0" err="1"/>
              <a:t>ToString</a:t>
            </a:r>
            <a:r>
              <a:rPr lang="ru-RU" dirty="0"/>
              <a:t>(</a:t>
            </a:r>
            <a:r>
              <a:rPr lang="ru-RU" dirty="0" err="1"/>
              <a:t>Order</a:t>
            </a:r>
            <a:r>
              <a:rPr lang="ru-RU" dirty="0"/>
              <a:t>&amp;) без </a:t>
            </a:r>
            <a:r>
              <a:rPr lang="ru-RU" dirty="0" err="1"/>
              <a:t>const</a:t>
            </a:r>
            <a:r>
              <a:rPr lang="ru-RU" dirty="0"/>
              <a:t> → ошибка линковки.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3782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56170E-AAEB-47D8-D7D2-D5D2C5DE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0702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критических ошибок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367B5A-6021-E1CE-85C1-D73934661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8327A13-2E2F-4F2E-8A82-1D293133525B}" type="slidenum">
              <a:rPr lang="ru-RU" smtClean="0"/>
              <a:pPr algn="ctr"/>
              <a:t>17</a:t>
            </a:fld>
            <a:endParaRPr lang="ru-RU"/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F08C1867-3DD9-177B-D2D4-18E3687EF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898705"/>
              </p:ext>
            </p:extLst>
          </p:nvPr>
        </p:nvGraphicFramePr>
        <p:xfrm>
          <a:off x="245444" y="647477"/>
          <a:ext cx="11680257" cy="5734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81261951"/>
                    </a:ext>
                  </a:extLst>
                </a:gridCol>
                <a:gridCol w="6232358">
                  <a:extLst>
                    <a:ext uri="{9D8B030D-6E8A-4147-A177-3AD203B41FA5}">
                      <a16:colId xmlns:a16="http://schemas.microsoft.com/office/drawing/2014/main" val="339801977"/>
                    </a:ext>
                  </a:extLst>
                </a:gridCol>
                <a:gridCol w="4899259">
                  <a:extLst>
                    <a:ext uri="{9D8B030D-6E8A-4147-A177-3AD203B41FA5}">
                      <a16:colId xmlns:a16="http://schemas.microsoft.com/office/drawing/2014/main" val="2888985733"/>
                    </a:ext>
                  </a:extLst>
                </a:gridCol>
              </a:tblGrid>
              <a:tr h="59560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Описание критической ошибки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Исправление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013040"/>
                  </a:ext>
                </a:extLst>
              </a:tr>
              <a:tr h="100442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altLang="ru-RU" sz="1200" dirty="0" err="1"/>
                        <a:t>shared_ptr</a:t>
                      </a:r>
                      <a:r>
                        <a:rPr lang="ru-RU" altLang="ru-RU" sz="1200" dirty="0"/>
                        <a:t> между </a:t>
                      </a:r>
                      <a:r>
                        <a:rPr lang="ru-RU" altLang="ru-RU" sz="1200" dirty="0" err="1"/>
                        <a:t>Actor</a:t>
                      </a:r>
                      <a:r>
                        <a:rPr lang="ru-RU" altLang="ru-RU" sz="1200" dirty="0"/>
                        <a:t> и Movie создаёт цикл, счётчики ссылок никогда не достигают нуля</a:t>
                      </a: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Необходимо заменить одну из связей на 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std::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weak_ptr</a:t>
                      </a:r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34571"/>
                  </a:ext>
                </a:extLst>
              </a:tr>
              <a:tr h="2565133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Метод изменяет вектор, по которому итерируется (параметр </a:t>
                      </a:r>
                      <a:r>
                        <a:rPr lang="ru-RU" sz="1200" dirty="0" err="1"/>
                        <a:t>genres</a:t>
                      </a:r>
                      <a:r>
                        <a:rPr lang="ru-RU" sz="1200" dirty="0"/>
                        <a:t>), что приводит к бесконечному циклу и исчерпанию памяти.</a:t>
                      </a:r>
                    </a:p>
                    <a:p>
                      <a:pPr algn="ctr"/>
                      <a:endParaRPr lang="en-US" sz="1200" dirty="0"/>
                    </a:p>
                    <a:p>
                      <a:pPr algn="ctr"/>
                      <a:endParaRPr lang="en-US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Теперь методы добавляют в член класса, а не параметры</a:t>
                      </a:r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73174"/>
                  </a:ext>
                </a:extLst>
              </a:tr>
              <a:tr h="156891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Хранение сырых указателей (</a:t>
                      </a:r>
                      <a:r>
                        <a:rPr lang="ru-RU" sz="1100" dirty="0"/>
                        <a:t>Movie*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вместо </a:t>
                      </a:r>
                      <a:r>
                        <a:rPr lang="ru-RU" sz="1100" dirty="0" err="1"/>
                        <a:t>std</a:t>
                      </a:r>
                      <a:r>
                        <a:rPr lang="ru-RU" sz="1100" dirty="0"/>
                        <a:t>::</a:t>
                      </a:r>
                      <a:r>
                        <a:rPr lang="ru-RU" sz="1100" dirty="0" err="1"/>
                        <a:t>weak_ptr</a:t>
                      </a:r>
                      <a:r>
                        <a:rPr lang="ru-RU" sz="1100" dirty="0"/>
                        <a:t>&lt;Movie&gt;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приводит к висячим указателям и неопределенному поведению при доступе к освобожденной памяти.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Заменили </a:t>
                      </a:r>
                      <a:r>
                        <a:rPr lang="en-US" sz="1100" dirty="0"/>
                        <a:t>std::vector&lt;Movie*&gt;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 </a:t>
                      </a:r>
                      <a:r>
                        <a:rPr lang="en-US" sz="1100" dirty="0"/>
                        <a:t>std::vector&lt;std::</a:t>
                      </a:r>
                      <a:r>
                        <a:rPr lang="en-US" sz="1100" dirty="0" err="1"/>
                        <a:t>weak_ptr</a:t>
                      </a:r>
                      <a:r>
                        <a:rPr lang="en-US" sz="1100" dirty="0"/>
                        <a:t>&lt;Movie&gt;&gt;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безопасного хранения </a:t>
                      </a:r>
                      <a:r>
                        <a:rPr lang="ru-RU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невладеющих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ссылок.</a:t>
                      </a:r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741039"/>
                  </a:ext>
                </a:extLst>
              </a:tr>
            </a:tbl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95AD34-C267-4026-AC52-88B8EC825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83" y="1524298"/>
            <a:ext cx="2938780" cy="61527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00AF76-6A27-1D19-04C5-12E1B92D3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391" y="1562799"/>
            <a:ext cx="2734376" cy="6343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1B1E5-93F1-F587-5E25-DD5A5F735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7952" y="2763293"/>
            <a:ext cx="2147777" cy="195514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370053C-2299-2285-A54F-CE117F8D0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666" y="2502936"/>
            <a:ext cx="2301668" cy="226326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F50B41C-E626-D3F4-2C53-3AB5B36B2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9688" y="5254035"/>
            <a:ext cx="3454855" cy="95648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939C87F-F037-1EB6-9BA8-A5434DB6EA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523" y="5291965"/>
            <a:ext cx="3387281" cy="97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11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56170E-AAEB-47D8-D7D2-D5D2C5DE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0702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критических ошибок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367B5A-6021-E1CE-85C1-D73934661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8327A13-2E2F-4F2E-8A82-1D293133525B}" type="slidenum">
              <a:rPr lang="ru-RU" smtClean="0"/>
              <a:pPr algn="ctr"/>
              <a:t>18</a:t>
            </a:fld>
            <a:endParaRPr lang="ru-RU"/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F08C1867-3DD9-177B-D2D4-18E3687EF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214309"/>
              </p:ext>
            </p:extLst>
          </p:nvPr>
        </p:nvGraphicFramePr>
        <p:xfrm>
          <a:off x="206943" y="556038"/>
          <a:ext cx="11680257" cy="6165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81261951"/>
                    </a:ext>
                  </a:extLst>
                </a:gridCol>
                <a:gridCol w="6232358">
                  <a:extLst>
                    <a:ext uri="{9D8B030D-6E8A-4147-A177-3AD203B41FA5}">
                      <a16:colId xmlns:a16="http://schemas.microsoft.com/office/drawing/2014/main" val="339801977"/>
                    </a:ext>
                  </a:extLst>
                </a:gridCol>
                <a:gridCol w="4899259">
                  <a:extLst>
                    <a:ext uri="{9D8B030D-6E8A-4147-A177-3AD203B41FA5}">
                      <a16:colId xmlns:a16="http://schemas.microsoft.com/office/drawing/2014/main" val="2888985733"/>
                    </a:ext>
                  </a:extLst>
                </a:gridCol>
              </a:tblGrid>
              <a:tr h="507848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Описание критической ошибки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Исправление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013040"/>
                  </a:ext>
                </a:extLst>
              </a:tr>
              <a:tr h="88515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Теневая переменная </a:t>
                      </a:r>
                      <a:r>
                        <a:rPr lang="ru-RU" sz="1100" dirty="0" err="1"/>
                        <a:t>order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в методе </a:t>
                      </a:r>
                      <a:r>
                        <a:rPr lang="ru-RU" sz="1100" dirty="0" err="1"/>
                        <a:t>add_oder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оставляет член класса неинициализированным, что приводит к разыменованию нулевого указателя в </a:t>
                      </a:r>
                      <a:r>
                        <a:rPr lang="ru-RU" sz="1100" dirty="0" err="1"/>
                        <a:t>to_string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Убераем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создания новых </a:t>
                      </a:r>
                      <a:r>
                        <a:rPr lang="ru-RU" sz="1100" dirty="0" err="1"/>
                        <a:t>shared_ptr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из сырых указателей</a:t>
                      </a:r>
                      <a:endParaRPr lang="en-US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34571"/>
                  </a:ext>
                </a:extLst>
              </a:tr>
              <a:tr h="209691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Метод </a:t>
                      </a:r>
                      <a:r>
                        <a:rPr lang="ru-RU" sz="1100" dirty="0" err="1"/>
                        <a:t>get_top_sale_movie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разыменовывает нулевой указатель, если хранилище фильмов пусто или все продажи отрицательны, что приводит к краху приложения.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Теперь методы добавляют в член класса, а не параметры</a:t>
                      </a:r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73174"/>
                  </a:ext>
                </a:extLst>
              </a:tr>
              <a:tr h="133775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/>
                        <a:t>Циклическая зависимость из-за ненужного включения заголовочного файла. Файл включает </a:t>
                      </a:r>
                      <a:r>
                        <a:rPr lang="ru-RU" sz="1100" dirty="0" err="1"/>
                        <a:t>Movie.h</a:t>
                      </a:r>
                      <a:r>
                        <a:rPr lang="ru-RU" sz="1100" dirty="0"/>
                        <a:t>, но использует только </a:t>
                      </a:r>
                      <a:r>
                        <a:rPr lang="ru-RU" sz="1100" dirty="0" err="1"/>
                        <a:t>std</a:t>
                      </a:r>
                      <a:r>
                        <a:rPr lang="ru-RU" sz="1100" dirty="0"/>
                        <a:t>::</a:t>
                      </a:r>
                      <a:r>
                        <a:rPr lang="ru-RU" sz="1100" dirty="0" err="1"/>
                        <a:t>shared_ptr</a:t>
                      </a:r>
                      <a:r>
                        <a:rPr lang="ru-RU" sz="1100" dirty="0"/>
                        <a:t>&lt;Movie&gt;, что требует лишь предварительного объявления.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Убрали зависимость, оставили только указание что он существует.</a:t>
                      </a:r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741039"/>
                  </a:ext>
                </a:extLst>
              </a:tr>
              <a:tr h="1337758">
                <a:tc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Проблема заключается в </a:t>
                      </a:r>
                      <a:r>
                        <a:rPr lang="ru-RU" sz="11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несоответствии подписей (сигнатур) функции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между заголовочным файлом (</a:t>
                      </a:r>
                      <a:r>
                        <a:rPr lang="ru-RU" sz="1100" dirty="0"/>
                        <a:t>.h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и файлом реализации (</a:t>
                      </a:r>
                      <a:r>
                        <a:rPr lang="ru-RU" sz="1100" dirty="0"/>
                        <a:t>.</a:t>
                      </a:r>
                      <a:r>
                        <a:rPr lang="ru-RU" sz="1100" dirty="0" err="1"/>
                        <a:t>cpp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</a:p>
                    <a:p>
                      <a:pPr algn="ctr"/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94467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F8B583-C5F4-D5E5-5A8D-D9626B704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776" y="1444865"/>
            <a:ext cx="3680657" cy="4460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0717F49-7CED-17E8-C57F-14A594570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1" y="1314241"/>
            <a:ext cx="2430552" cy="57664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4A83FA0-1E95-7B31-97C6-E7FA695784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469" y="2326498"/>
            <a:ext cx="1243557" cy="164565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76A56C3-5BC7-5F95-88EC-DA288E66F3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802" y="2326498"/>
            <a:ext cx="2450351" cy="164565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C08F6B5A-C9EE-441F-BAF0-9F87DA2847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965" y="4467340"/>
            <a:ext cx="1124797" cy="87947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8748B5A-E831-B0FA-1114-0B8714C3FC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8070" y="4441810"/>
            <a:ext cx="1886213" cy="905001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0572665-4469-C0E8-A281-DDE9D25D38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3591" y="5809947"/>
            <a:ext cx="3295520" cy="91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66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24F4E-81B3-0786-2937-18F8C57A3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1C6226F2-88F6-8ABE-8DFA-53CD181C0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19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43521C2-69B2-FE2D-9FEC-A25BE01F7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67" y="1998529"/>
            <a:ext cx="10325986" cy="398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00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br>
              <a:rPr lang="ru-RU" dirty="0"/>
            </a:b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838201" y="1328468"/>
            <a:ext cx="582248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Кросс-файловый анализ включён — </a:t>
            </a:r>
            <a:r>
              <a:rPr lang="ru-RU" dirty="0" err="1"/>
              <a:t>Kody</a:t>
            </a:r>
            <a:r>
              <a:rPr lang="ru-RU" dirty="0"/>
              <a:t> успешно обнаружил проблемы, затрагивающие несколько файлов (например, циклические зависимости между </a:t>
            </a:r>
            <a:r>
              <a:rPr lang="ru-RU" dirty="0" err="1"/>
              <a:t>Actor.h</a:t>
            </a:r>
            <a:r>
              <a:rPr lang="ru-RU" dirty="0"/>
              <a:t> и </a:t>
            </a:r>
            <a:r>
              <a:rPr lang="ru-RU" dirty="0" err="1"/>
              <a:t>Movie.h</a:t>
            </a:r>
            <a:r>
              <a:rPr lang="ru-RU" dirty="0"/>
              <a:t>).</a:t>
            </a:r>
          </a:p>
          <a:p>
            <a:endParaRPr lang="ru-RU" dirty="0"/>
          </a:p>
          <a:p>
            <a:r>
              <a:rPr lang="ru-RU" dirty="0"/>
              <a:t>Бизнес-логика проверялась — </a:t>
            </a:r>
            <a:r>
              <a:rPr lang="ru-RU" dirty="0" err="1"/>
              <a:t>Kody</a:t>
            </a:r>
            <a:r>
              <a:rPr lang="ru-RU" dirty="0"/>
              <a:t> выявил логическую ошибку в </a:t>
            </a:r>
            <a:r>
              <a:rPr lang="ru-RU" dirty="0" err="1"/>
              <a:t>add_directors</a:t>
            </a:r>
            <a:r>
              <a:rPr lang="ru-RU" dirty="0"/>
              <a:t> (метод модифицирует не тот вектор).</a:t>
            </a:r>
          </a:p>
          <a:p>
            <a:endParaRPr lang="ru-RU" dirty="0"/>
          </a:p>
          <a:p>
            <a:r>
              <a:rPr lang="ru-RU" dirty="0"/>
              <a:t>Интерактивность — бот предлагает пользователю реагировать на комментарии (👍 / 👎) для обучения модели.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Некоторые ошибки были </a:t>
            </a:r>
            <a:r>
              <a:rPr lang="en-US" dirty="0"/>
              <a:t>“</a:t>
            </a:r>
            <a:r>
              <a:rPr lang="ru-RU" dirty="0"/>
              <a:t>допущены</a:t>
            </a:r>
            <a:r>
              <a:rPr lang="en-US" dirty="0"/>
              <a:t>”</a:t>
            </a:r>
            <a:r>
              <a:rPr lang="ru-RU" dirty="0"/>
              <a:t> специально, из-за специфичной связи указателей на </a:t>
            </a:r>
            <a:r>
              <a:rPr lang="en-US" dirty="0"/>
              <a:t>C++</a:t>
            </a:r>
            <a:r>
              <a:rPr lang="ru-RU" dirty="0"/>
              <a:t>. </a:t>
            </a:r>
          </a:p>
          <a:p>
            <a:r>
              <a:rPr lang="ru-RU" dirty="0"/>
              <a:t>Но примечания по исправлению ошибок являются полезными и сильно упрощают процесс </a:t>
            </a:r>
            <a:r>
              <a:rPr lang="ru-RU" dirty="0" err="1"/>
              <a:t>дебаггинга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20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631298-715C-3ADA-7D54-B3B67E9D5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194" y="1328468"/>
            <a:ext cx="4778207" cy="4879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5930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30589D-5BDA-D5F1-6EF1-ED8F1D8D9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источников и пожеланий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D674C5C-F2FB-8596-9410-8E8397F92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21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3BC7B-4443-4638-EB2B-5FC479B9463B}"/>
              </a:ext>
            </a:extLst>
          </p:cNvPr>
          <p:cNvSpPr txBox="1"/>
          <p:nvPr/>
        </p:nvSpPr>
        <p:spPr>
          <a:xfrm>
            <a:off x="943276" y="1867301"/>
            <a:ext cx="1019796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ru-RU" dirty="0"/>
              <a:t>Учебное пособие по лабораторной работе (предоставлено преподавателем)</a:t>
            </a:r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r>
              <a:rPr lang="ru-RU" dirty="0"/>
              <a:t>Иных материалов не потребовалось, так как процесс регистрации описан достаточно точно, по шагам, единственное, с чем возникли проблемы, это доступ к сайту </a:t>
            </a:r>
            <a:r>
              <a:rPr lang="en-US" dirty="0"/>
              <a:t>kodus.ai</a:t>
            </a:r>
            <a:r>
              <a:rPr lang="ru-RU" dirty="0"/>
              <a:t>, он осуществляется только с помощью личного приватного сервера. </a:t>
            </a:r>
          </a:p>
        </p:txBody>
      </p:sp>
    </p:spTree>
    <p:extLst>
      <p:ext uri="{BB962C8B-B14F-4D97-AF65-F5344CB8AC3E}">
        <p14:creationId xmlns:p14="http://schemas.microsoft.com/office/powerpoint/2010/main" val="39075122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1133</Words>
  <Application>Microsoft Office PowerPoint</Application>
  <PresentationFormat>Широкоэкранный</PresentationFormat>
  <Paragraphs>152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Оглавление</vt:lpstr>
      <vt:lpstr>Информация об инструменте</vt:lpstr>
      <vt:lpstr>Анализируемые языки программирования</vt:lpstr>
      <vt:lpstr>Начало статического анализа кода</vt:lpstr>
      <vt:lpstr>Уведомление о начале работы</vt:lpstr>
      <vt:lpstr>Уведомление об успешной проверке</vt:lpstr>
      <vt:lpstr>Первая критическая ошибка (shared_ptr между Actor и Movie)</vt:lpstr>
      <vt:lpstr>Вторая критическая ошибка(бесконечный цикл у add_geners и add_actors)</vt:lpstr>
      <vt:lpstr>Третья критическая ошибка (Хранение Movie* вместо weak_ptr&lt;Movie&gt;)</vt:lpstr>
      <vt:lpstr>Четвертая критическая ошибка(не неинициализированная переменная в order)</vt:lpstr>
      <vt:lpstr>Пятая критическая ошибка (нулевой указатель)</vt:lpstr>
      <vt:lpstr>Шестая критическая ошибка(циклическая зависимость у Movie.h)</vt:lpstr>
      <vt:lpstr>Первая НЕ критическая ошибка(не инициализирован std::shared_ptr&lt;Movie&gt; movie)</vt:lpstr>
      <vt:lpstr>Вторая НЕ критическая ошибка (добавление актеров, вместо режисеров)</vt:lpstr>
      <vt:lpstr>Еще одна критическая ошибка(отсутсвие указателя на константное значение)</vt:lpstr>
      <vt:lpstr>Таблица критических ошибок</vt:lpstr>
      <vt:lpstr>Таблица критических ошибок</vt:lpstr>
      <vt:lpstr>Результат</vt:lpstr>
      <vt:lpstr>Выводы </vt:lpstr>
      <vt:lpstr>Список источников и пожеланий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Вероника Зверь</dc:creator>
  <cp:lastModifiedBy>Stepan Nebovarenkov</cp:lastModifiedBy>
  <cp:revision>20</cp:revision>
  <dcterms:created xsi:type="dcterms:W3CDTF">2026-04-06T13:34:42Z</dcterms:created>
  <dcterms:modified xsi:type="dcterms:W3CDTF">2026-04-09T09:22:50Z</dcterms:modified>
</cp:coreProperties>
</file>