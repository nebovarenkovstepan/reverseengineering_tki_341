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7" r:id="rId2"/>
    <p:sldId id="278" r:id="rId3"/>
    <p:sldId id="279" r:id="rId4"/>
    <p:sldId id="27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6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9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684E2-121A-4D6B-9071-5C929EF90B7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D1AEF-DD74-4B85-93D8-3C2C0F18F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66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3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247F-6AF4-4318-A27B-4F8FC20FB9AC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58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5611-9BEC-4F6E-A7A2-016B98ED9A5B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82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A4DD-3B4D-4EAE-9A17-ACA5EF5AE5AE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606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4AF9E-18B6-4C53-A9EB-01F4D00D3082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10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5B0F0-0CD9-4813-B860-AB929393F0BC}" type="datetime1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894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D37D-B4E5-478E-B1C6-9811DB3A2BC3}" type="datetime1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6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5336-877F-4B9E-ABA0-711209675E90}" type="datetime1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22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FBEC-B4E5-42F6-9401-C269C822CB37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82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E4ED0-DB39-4DEB-BDB8-65B049CA9302}" type="datetime1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22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1D271-C6DA-48C3-BCC1-D133AD7203D4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878F-82B3-4277-A62B-1A7C958B7AFD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5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7ADCC-E2E8-4FE7-9F77-8D106CD66237}" type="datetime1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27A13-2E2F-4F2E-8A82-1D29313352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3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00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626301" y="1457790"/>
            <a:ext cx="638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Отчет по лабораторной работе № 7</a:t>
            </a:r>
          </a:p>
          <a:p>
            <a:endParaRPr lang="ru-RU" sz="2400" dirty="0"/>
          </a:p>
          <a:p>
            <a:r>
              <a:rPr lang="ru-RU" sz="2400" dirty="0" err="1"/>
              <a:t>KodusAI</a:t>
            </a:r>
            <a:r>
              <a:rPr lang="ru-RU" sz="2400" dirty="0"/>
              <a:t>. Вариант 12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1" y="5086198"/>
            <a:ext cx="63869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Выполнили: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Небоваринков Степан Константинович, ТКИ-341,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студ. Зверь Вероника Владимировна, ТКИ-341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Проверили: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 т. н., проф. Сидоренко Валентина Геннадьевна, </a:t>
            </a:r>
          </a:p>
          <a:p>
            <a:pPr algn="just"/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д.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к. т. н.</a:t>
            </a:r>
            <a:r>
              <a:rPr lang="en-US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  <a:r>
              <a:rPr lang="ru-RU" sz="16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33463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EFCA-721F-5CCD-3701-CDA33EDB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4175C9-EA50-F874-3BAB-64A97D1D1B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371085"/>
              </p:ext>
            </p:extLst>
          </p:nvPr>
        </p:nvGraphicFramePr>
        <p:xfrm>
          <a:off x="838200" y="953450"/>
          <a:ext cx="9966158" cy="5468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802">
                  <a:extLst>
                    <a:ext uri="{9D8B030D-6E8A-4147-A177-3AD203B41FA5}">
                      <a16:colId xmlns:a16="http://schemas.microsoft.com/office/drawing/2014/main" val="141542384"/>
                    </a:ext>
                  </a:extLst>
                </a:gridCol>
                <a:gridCol w="1553356">
                  <a:extLst>
                    <a:ext uri="{9D8B030D-6E8A-4147-A177-3AD203B41FA5}">
                      <a16:colId xmlns:a16="http://schemas.microsoft.com/office/drawing/2014/main" val="2830357005"/>
                    </a:ext>
                  </a:extLst>
                </a:gridCol>
              </a:tblGrid>
              <a:tr h="382487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слайда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Слайд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713436"/>
                  </a:ext>
                </a:extLst>
              </a:tr>
              <a:tr h="2885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Информация об инструменте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48215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Анализируемые языки программирования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4760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Начало статического анализа кода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00265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Уведомление о начале работы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4330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Уведомление об успешной проверке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70835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Первая критическая ошибка (</a:t>
                      </a:r>
                      <a:r>
                        <a:rPr lang="ru-RU" altLang="ru-RU" sz="1400" i="1" dirty="0" err="1"/>
                        <a:t>shared_ptr</a:t>
                      </a:r>
                      <a:r>
                        <a:rPr lang="ru-RU" altLang="ru-RU" sz="1400" i="1" dirty="0"/>
                        <a:t> </a:t>
                      </a:r>
                      <a:r>
                        <a:rPr lang="ru-RU" altLang="ru-RU" sz="1400" dirty="0"/>
                        <a:t>между </a:t>
                      </a:r>
                      <a:r>
                        <a:rPr lang="ru-RU" altLang="ru-RU" sz="1400" i="1" dirty="0" err="1"/>
                        <a:t>Actor</a:t>
                      </a:r>
                      <a:r>
                        <a:rPr lang="ru-RU" altLang="ru-RU" sz="1400" dirty="0"/>
                        <a:t> и </a:t>
                      </a:r>
                      <a:r>
                        <a:rPr lang="ru-RU" altLang="ru-RU" sz="1400" i="1" dirty="0"/>
                        <a:t>Movie</a:t>
                      </a:r>
                      <a:r>
                        <a:rPr lang="ru-RU" alt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7162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Вторая критическая ошибка(бесконечный цикл у </a:t>
                      </a:r>
                      <a:r>
                        <a:rPr lang="en-US" sz="1400" i="1" dirty="0" err="1"/>
                        <a:t>add_geners</a:t>
                      </a:r>
                      <a:r>
                        <a:rPr lang="en-US" sz="1400" i="1" dirty="0"/>
                        <a:t> </a:t>
                      </a:r>
                      <a:r>
                        <a:rPr lang="ru-RU" sz="1400" dirty="0"/>
                        <a:t>и </a:t>
                      </a:r>
                      <a:r>
                        <a:rPr lang="en-US" sz="1400" i="1" dirty="0" err="1"/>
                        <a:t>add_actors</a:t>
                      </a:r>
                      <a:r>
                        <a:rPr lang="en-US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14779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Третья критическая ошибка (Хранение </a:t>
                      </a:r>
                      <a:r>
                        <a:rPr lang="ru-RU" sz="1400" i="1" dirty="0"/>
                        <a:t>Movie* </a:t>
                      </a:r>
                      <a:r>
                        <a:rPr lang="ru-RU" sz="1400" dirty="0"/>
                        <a:t>вместо </a:t>
                      </a:r>
                      <a:r>
                        <a:rPr lang="ru-RU" sz="1400" i="1" dirty="0" err="1"/>
                        <a:t>weak_ptr</a:t>
                      </a:r>
                      <a:r>
                        <a:rPr lang="ru-RU" sz="1400" i="1" dirty="0"/>
                        <a:t>&lt;Movie&gt;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00548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Четвертая критическая ошибка(не неинициализированная переменная в </a:t>
                      </a:r>
                      <a:r>
                        <a:rPr lang="en-US" sz="1400" i="1" dirty="0"/>
                        <a:t>order</a:t>
                      </a:r>
                      <a:r>
                        <a:rPr lang="en-US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13589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Пятая критическая ошибка</a:t>
                      </a:r>
                      <a:r>
                        <a:rPr lang="en-US" sz="1400" dirty="0"/>
                        <a:t> (</a:t>
                      </a:r>
                      <a:r>
                        <a:rPr lang="ru-RU" sz="1400" dirty="0"/>
                        <a:t>нулевой указатель)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08089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Шестая критическая ошибка(циклическая зависимость у </a:t>
                      </a:r>
                      <a:r>
                        <a:rPr lang="ru-RU" sz="1400" i="1" dirty="0" err="1"/>
                        <a:t>Movie.h</a:t>
                      </a:r>
                      <a:r>
                        <a:rPr lang="ru-RU" sz="1400" dirty="0"/>
                        <a:t>)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910897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Первая НЕ критическая ошибка(не инициализирован </a:t>
                      </a:r>
                      <a:r>
                        <a:rPr lang="ru-RU" sz="1400" i="1" dirty="0" err="1"/>
                        <a:t>std</a:t>
                      </a:r>
                      <a:r>
                        <a:rPr lang="ru-RU" sz="1400" i="1" dirty="0"/>
                        <a:t>::</a:t>
                      </a:r>
                      <a:r>
                        <a:rPr lang="ru-RU" sz="1400" i="1" dirty="0" err="1"/>
                        <a:t>shared_ptr</a:t>
                      </a:r>
                      <a:r>
                        <a:rPr lang="ru-RU" sz="1400" i="1" dirty="0"/>
                        <a:t>&lt;Movie&gt; </a:t>
                      </a:r>
                      <a:r>
                        <a:rPr lang="ru-RU" sz="1400" i="1" dirty="0" err="1"/>
                        <a:t>movie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3390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Вторая НЕ критическая ошибка (добавление актеров, вместо </a:t>
                      </a:r>
                      <a:r>
                        <a:rPr lang="ru-RU" sz="1400" dirty="0" err="1"/>
                        <a:t>режисеров</a:t>
                      </a:r>
                      <a:r>
                        <a:rPr lang="ru-RU" sz="1400" dirty="0"/>
                        <a:t>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275894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Еще одна критическая ошибка(</a:t>
                      </a:r>
                      <a:r>
                        <a:rPr lang="ru-RU" sz="1400" dirty="0" err="1"/>
                        <a:t>отсутсвие</a:t>
                      </a:r>
                      <a:r>
                        <a:rPr lang="ru-RU" sz="1400" dirty="0"/>
                        <a:t> указателя на константное значение)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6930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15688"/>
                  </a:ext>
                </a:extLst>
              </a:tr>
              <a:tr h="31873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Список источников и пожеланий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828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93A1-D632-1688-2E92-6187FC1D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84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B81C3-6E4E-440D-1DB8-E0EEFA29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об инструменте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A589CD-7DE2-4645-B32A-BC604A3A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Инструмент, а именно доступ к нему, не возможен в настоящее время без использования виртуального приватного сервера.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Сам инструмент после применения настроек предстает в виде бота, который оставляет комментарии к коду в репозитории (</a:t>
            </a:r>
            <a:r>
              <a:rPr lang="en-US" i="1" dirty="0" err="1"/>
              <a:t>kody</a:t>
            </a:r>
            <a:r>
              <a:rPr lang="en-US" i="1" dirty="0"/>
              <a:t>-ai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Он может использоваться в </a:t>
            </a:r>
            <a:r>
              <a:rPr lang="en-US" i="1" dirty="0"/>
              <a:t>GitHub, GitLab, Bitbucket, Azure DevOps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 был выбран </a:t>
            </a:r>
            <a:r>
              <a:rPr lang="en-US" i="1" dirty="0"/>
              <a:t>GitHub</a:t>
            </a:r>
            <a:r>
              <a:rPr lang="ru-RU" dirty="0"/>
              <a:t>, так как на нем есть достаточно интересный для анализа проект.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072A26-2A43-7A70-2020-6DCAA60C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36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Анализируемые языки программирования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1048" y="1863305"/>
            <a:ext cx="4313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Так как читать сложно, учебное пособие после самого инструмента который надо использовать, было изучено только тогда, когда работа уже была проделана с другим кодом и языком программирования, в учебном пособии требуется анализировать код на </a:t>
            </a:r>
            <a:r>
              <a:rPr lang="en-US" sz="2400" dirty="0"/>
              <a:t>Python, </a:t>
            </a:r>
            <a:r>
              <a:rPr lang="ru-RU" sz="2400" dirty="0"/>
              <a:t>а мы рассмотрели </a:t>
            </a:r>
            <a:r>
              <a:rPr lang="ru-RU" sz="2400" dirty="0" err="1"/>
              <a:t>репозиторий</a:t>
            </a:r>
            <a:r>
              <a:rPr lang="ru-RU" sz="2400" dirty="0"/>
              <a:t> прошлого года на </a:t>
            </a:r>
            <a:r>
              <a:rPr lang="en-US" sz="2400" dirty="0"/>
              <a:t>C++.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4</a:t>
            </a:fld>
            <a:endParaRPr lang="ru-RU"/>
          </a:p>
        </p:txBody>
      </p:sp>
      <p:pic>
        <p:nvPicPr>
          <p:cNvPr id="6146" name="Picture 2" descr="https://images.meme-arsenal.com/358b6731f9249382d53d7095de8d209e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76"/>
          <a:stretch/>
        </p:blipFill>
        <p:spPr bwMode="auto">
          <a:xfrm>
            <a:off x="6001816" y="2087593"/>
            <a:ext cx="5783190" cy="357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58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 статического анализа кода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72" y="2310063"/>
            <a:ext cx="6277069" cy="396240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637253" y="1530583"/>
            <a:ext cx="40774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рамках самостоятельной работы был проанализирован проект «</a:t>
            </a:r>
            <a:r>
              <a:rPr lang="ru-RU" i="1" dirty="0" err="1"/>
              <a:t>Filmoteka</a:t>
            </a:r>
            <a:r>
              <a:rPr lang="ru-RU" dirty="0"/>
              <a:t>» (система управления фильмотекой) на языке C++.</a:t>
            </a:r>
          </a:p>
          <a:p>
            <a:endParaRPr lang="ru-RU" dirty="0"/>
          </a:p>
          <a:p>
            <a:r>
              <a:rPr lang="ru-RU" i="1" dirty="0" err="1"/>
              <a:t>Film_Storage</a:t>
            </a:r>
            <a:r>
              <a:rPr lang="ru-RU" i="1" dirty="0"/>
              <a:t> </a:t>
            </a:r>
            <a:r>
              <a:rPr lang="ru-RU" dirty="0"/>
              <a:t>— библиотека для управления фильмами (классы </a:t>
            </a:r>
            <a:r>
              <a:rPr lang="ru-RU" dirty="0" err="1"/>
              <a:t>Person</a:t>
            </a:r>
            <a:r>
              <a:rPr lang="ru-RU" dirty="0"/>
              <a:t>, </a:t>
            </a:r>
            <a:r>
              <a:rPr lang="ru-RU" i="1" dirty="0" err="1"/>
              <a:t>Actor</a:t>
            </a:r>
            <a:r>
              <a:rPr lang="ru-RU" i="1" dirty="0"/>
              <a:t>, </a:t>
            </a:r>
            <a:r>
              <a:rPr lang="ru-RU" i="1" dirty="0" err="1"/>
              <a:t>Director</a:t>
            </a:r>
            <a:r>
              <a:rPr lang="ru-RU" i="1" dirty="0"/>
              <a:t>, </a:t>
            </a:r>
            <a:r>
              <a:rPr lang="ru-RU" i="1" dirty="0" err="1"/>
              <a:t>Genre</a:t>
            </a:r>
            <a:r>
              <a:rPr lang="ru-RU" i="1" dirty="0"/>
              <a:t>, </a:t>
            </a:r>
            <a:r>
              <a:rPr lang="ru-RU" i="1" dirty="0" err="1"/>
              <a:t>Movie</a:t>
            </a:r>
            <a:r>
              <a:rPr lang="ru-RU" i="1" dirty="0"/>
              <a:t>, </a:t>
            </a:r>
            <a:r>
              <a:rPr lang="ru-RU" i="1" dirty="0" err="1"/>
              <a:t>Order</a:t>
            </a:r>
            <a:r>
              <a:rPr lang="ru-RU" i="1" dirty="0"/>
              <a:t>, </a:t>
            </a:r>
            <a:r>
              <a:rPr lang="ru-RU" i="1" dirty="0" err="1"/>
              <a:t>Storage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i="1" dirty="0" err="1"/>
              <a:t>Film_Second_Try</a:t>
            </a:r>
            <a:r>
              <a:rPr lang="ru-RU" i="1" dirty="0"/>
              <a:t> </a:t>
            </a:r>
            <a:r>
              <a:rPr lang="ru-RU" dirty="0"/>
              <a:t>— консольное клиентское приложение</a:t>
            </a:r>
          </a:p>
          <a:p>
            <a:endParaRPr lang="ru-RU" dirty="0"/>
          </a:p>
          <a:p>
            <a:r>
              <a:rPr lang="ru-RU" i="1" dirty="0" err="1"/>
              <a:t>Film_Storage_Tests</a:t>
            </a:r>
            <a:r>
              <a:rPr lang="ru-RU" i="1" dirty="0"/>
              <a:t> </a:t>
            </a:r>
            <a:r>
              <a:rPr lang="ru-RU" dirty="0"/>
              <a:t>— модульные тесты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69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Уведомление о начале работы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12545"/>
            <a:ext cx="10347158" cy="190775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49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Уведомление об успешной проверке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509" y="1690688"/>
            <a:ext cx="5238238" cy="40105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92506" y="1992702"/>
            <a:ext cx="4589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данном скриншоте показаны опции, которые были использованы при анализе </a:t>
            </a:r>
            <a:r>
              <a:rPr lang="ru-RU" dirty="0" err="1"/>
              <a:t>репозитория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4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418545" cy="117973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Первая критическая ошибка (</a:t>
            </a:r>
            <a:r>
              <a:rPr lang="ru-RU" altLang="ru-RU" i="1" dirty="0" err="1"/>
              <a:t>shared_ptr</a:t>
            </a:r>
            <a:r>
              <a:rPr lang="ru-RU" altLang="ru-RU" i="1" dirty="0"/>
              <a:t> </a:t>
            </a:r>
            <a:r>
              <a:rPr lang="ru-RU" altLang="ru-RU" dirty="0"/>
              <a:t>между </a:t>
            </a:r>
            <a:r>
              <a:rPr lang="ru-RU" altLang="ru-RU" i="1" dirty="0" err="1"/>
              <a:t>Actor</a:t>
            </a:r>
            <a:r>
              <a:rPr lang="ru-RU" altLang="ru-RU" dirty="0"/>
              <a:t> и </a:t>
            </a:r>
            <a:r>
              <a:rPr lang="ru-RU" altLang="ru-RU" i="1" dirty="0"/>
              <a:t>Movie</a:t>
            </a:r>
            <a:r>
              <a:rPr lang="ru-RU" altLang="ru-RU" dirty="0"/>
              <a:t>)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163394" cy="484471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317412" y="1819546"/>
            <a:ext cx="4474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dirty="0" err="1"/>
              <a:t>shared_ptr</a:t>
            </a:r>
            <a:r>
              <a:rPr lang="ru-RU" altLang="ru-RU" dirty="0"/>
              <a:t> между </a:t>
            </a:r>
            <a:r>
              <a:rPr lang="ru-RU" altLang="ru-RU" dirty="0" err="1"/>
              <a:t>Actor</a:t>
            </a:r>
            <a:r>
              <a:rPr lang="ru-RU" altLang="ru-RU" dirty="0"/>
              <a:t> и </a:t>
            </a:r>
            <a:r>
              <a:rPr lang="ru-RU" altLang="ru-RU" dirty="0" err="1"/>
              <a:t>Movie</a:t>
            </a:r>
            <a:r>
              <a:rPr lang="ru-RU" altLang="ru-RU" dirty="0"/>
              <a:t> создаёт цикл, счётчики ссылок никогда не достигают нуля. Рекомендуется заменить один из указателей на </a:t>
            </a:r>
            <a:r>
              <a:rPr lang="ru-RU" altLang="ru-RU" dirty="0" err="1"/>
              <a:t>weak_ptr</a:t>
            </a:r>
            <a:r>
              <a:rPr lang="ru-RU" altLang="ru-RU" dirty="0"/>
              <a:t>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045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критическая ошибка(бесконечный цикл у </a:t>
            </a:r>
            <a:r>
              <a:rPr lang="en-US" i="1" dirty="0" err="1"/>
              <a:t>add_geners</a:t>
            </a:r>
            <a:r>
              <a:rPr lang="en-US" i="1" dirty="0"/>
              <a:t> </a:t>
            </a:r>
            <a:r>
              <a:rPr lang="ru-RU" dirty="0"/>
              <a:t>и </a:t>
            </a:r>
            <a:r>
              <a:rPr lang="en-US" i="1" dirty="0" err="1"/>
              <a:t>add_actors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234587" cy="485835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523970" y="1690688"/>
            <a:ext cx="49802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изменяет вектор, по которому итерируется (параметр </a:t>
            </a:r>
            <a:r>
              <a:rPr lang="ru-RU" dirty="0" err="1"/>
              <a:t>genres</a:t>
            </a:r>
            <a:r>
              <a:rPr lang="ru-RU" dirty="0"/>
              <a:t>), что приводит к бесконечному циклу и исчерпанию памяти.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49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Третья критическая ошибка (Хранение </a:t>
            </a:r>
            <a:r>
              <a:rPr lang="ru-RU" i="1" dirty="0"/>
              <a:t>Movie* </a:t>
            </a:r>
            <a:r>
              <a:rPr lang="ru-RU" dirty="0"/>
              <a:t>вместо </a:t>
            </a:r>
            <a:r>
              <a:rPr lang="ru-RU" i="1" dirty="0" err="1"/>
              <a:t>weak_ptr</a:t>
            </a:r>
            <a:r>
              <a:rPr lang="ru-RU" i="1" dirty="0"/>
              <a:t>&lt;Movie&gt;</a:t>
            </a:r>
            <a:r>
              <a:rPr lang="ru-RU" dirty="0"/>
              <a:t>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8497"/>
            <a:ext cx="4833233" cy="441032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096000" y="230310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Хранение </a:t>
            </a:r>
            <a:r>
              <a:rPr lang="ru-RU" dirty="0" err="1"/>
              <a:t>Movie</a:t>
            </a:r>
            <a:r>
              <a:rPr lang="ru-RU" dirty="0"/>
              <a:t>* вместо </a:t>
            </a:r>
            <a:r>
              <a:rPr lang="ru-RU" dirty="0" err="1"/>
              <a:t>weak_ptr</a:t>
            </a:r>
            <a:r>
              <a:rPr lang="ru-RU" dirty="0"/>
              <a:t>&lt;</a:t>
            </a:r>
            <a:r>
              <a:rPr lang="ru-RU" dirty="0" err="1"/>
              <a:t>Movie</a:t>
            </a:r>
            <a:r>
              <a:rPr lang="ru-RU" dirty="0"/>
              <a:t>&gt; приводит к неопределённому поведению при доступе к освобождённой памяти.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389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Четвертая критическая ошибка(не неинициализированная переменная в </a:t>
            </a:r>
            <a:r>
              <a:rPr lang="en-US" i="1" dirty="0"/>
              <a:t>order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4687"/>
            <a:ext cx="4744519" cy="455177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722189" y="20646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Локальная переменная </a:t>
            </a:r>
            <a:r>
              <a:rPr lang="ru-RU" dirty="0" err="1"/>
              <a:t>order</a:t>
            </a:r>
            <a:r>
              <a:rPr lang="ru-RU" dirty="0"/>
              <a:t> скрывает член класса, оставляя его неинициализированным → разыменование нулевого указателя.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35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Пятая критическая ошибка</a:t>
            </a:r>
            <a:r>
              <a:rPr lang="en-US" dirty="0"/>
              <a:t> (</a:t>
            </a:r>
            <a:r>
              <a:rPr lang="ru-RU" dirty="0"/>
              <a:t>нулевой указатель)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0943"/>
            <a:ext cx="4355403" cy="464963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541034" y="19409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При пустом хранилище фильмов метод разыменовывает нулевой указатель → крах приложения.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4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Шестая критическая ошибка(циклическая зависимость у </a:t>
            </a:r>
            <a:r>
              <a:rPr lang="ru-RU" i="1" dirty="0" err="1"/>
              <a:t>Movie.h</a:t>
            </a:r>
            <a:r>
              <a:rPr lang="ru-RU" dirty="0"/>
              <a:t>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332"/>
            <a:ext cx="5458793" cy="468688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386423" y="2303579"/>
            <a:ext cx="5086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Включение </a:t>
            </a:r>
            <a:r>
              <a:rPr lang="ru-RU" dirty="0" err="1"/>
              <a:t>Movie.h</a:t>
            </a:r>
            <a:r>
              <a:rPr lang="ru-RU" dirty="0"/>
              <a:t> создаёт циклическую зависимость → ошибка компиляции.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442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375385" y="365125"/>
            <a:ext cx="11521439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Первая НЕ критическая ошибка(не инициализирован </a:t>
            </a:r>
            <a:r>
              <a:rPr lang="ru-RU" i="1" dirty="0" err="1"/>
              <a:t>std</a:t>
            </a:r>
            <a:r>
              <a:rPr lang="ru-RU" i="1" dirty="0"/>
              <a:t>::</a:t>
            </a:r>
            <a:r>
              <a:rPr lang="ru-RU" i="1" dirty="0" err="1"/>
              <a:t>shared_ptr</a:t>
            </a:r>
            <a:r>
              <a:rPr lang="ru-RU" i="1" dirty="0"/>
              <a:t>&lt;Movie&gt; </a:t>
            </a:r>
            <a:r>
              <a:rPr lang="ru-RU" i="1" dirty="0" err="1"/>
              <a:t>movie</a:t>
            </a:r>
            <a:r>
              <a:rPr lang="ru-RU" dirty="0"/>
              <a:t>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8" y="1956129"/>
            <a:ext cx="5254362" cy="472071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6208143" y="1956129"/>
            <a:ext cx="53167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Конструктор </a:t>
            </a:r>
            <a:r>
              <a:rPr lang="ru-RU" dirty="0" err="1"/>
              <a:t>Genre</a:t>
            </a:r>
            <a:r>
              <a:rPr lang="ru-RU" dirty="0"/>
              <a:t>(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&amp;) не инициализирует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shared_ptr</a:t>
            </a:r>
            <a:r>
              <a:rPr lang="ru-RU" dirty="0"/>
              <a:t>&lt;</a:t>
            </a:r>
            <a:r>
              <a:rPr lang="ru-RU" dirty="0" err="1"/>
              <a:t>Movie</a:t>
            </a:r>
            <a:r>
              <a:rPr lang="ru-RU" dirty="0"/>
              <a:t>&gt; </a:t>
            </a:r>
            <a:r>
              <a:rPr lang="ru-RU" dirty="0" err="1"/>
              <a:t>movie</a:t>
            </a:r>
            <a:r>
              <a:rPr lang="ru-RU" dirty="0"/>
              <a:t>, оставляя его </a:t>
            </a:r>
            <a:r>
              <a:rPr lang="ru-RU" dirty="0" err="1"/>
              <a:t>nullptr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0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НЕ критическая ошибка (добавление актеров, вместо </a:t>
            </a:r>
            <a:r>
              <a:rPr lang="ru-RU" dirty="0" err="1"/>
              <a:t>режисеров</a:t>
            </a:r>
            <a:r>
              <a:rPr lang="ru-RU" dirty="0"/>
              <a:t>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3298"/>
            <a:ext cx="4526986" cy="462453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23781" y="19832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Метод называется </a:t>
            </a:r>
            <a:r>
              <a:rPr lang="ru-RU" dirty="0" err="1"/>
              <a:t>add_directors</a:t>
            </a:r>
            <a:r>
              <a:rPr lang="ru-RU" dirty="0"/>
              <a:t>, но добавляет элементы в </a:t>
            </a:r>
            <a:r>
              <a:rPr lang="ru-RU" dirty="0" err="1"/>
              <a:t>this</a:t>
            </a:r>
            <a:r>
              <a:rPr lang="ru-RU" dirty="0"/>
              <a:t>-&gt;</a:t>
            </a:r>
            <a:r>
              <a:rPr lang="ru-RU" dirty="0" err="1"/>
              <a:t>actors</a:t>
            </a:r>
            <a:r>
              <a:rPr lang="ru-RU" dirty="0"/>
              <a:t> (а не в </a:t>
            </a:r>
            <a:r>
              <a:rPr lang="ru-RU" dirty="0" err="1"/>
              <a:t>this</a:t>
            </a:r>
            <a:r>
              <a:rPr lang="ru-RU" dirty="0"/>
              <a:t>-&gt;</a:t>
            </a:r>
            <a:r>
              <a:rPr lang="ru-RU" dirty="0" err="1"/>
              <a:t>directors</a:t>
            </a:r>
            <a:r>
              <a:rPr lang="ru-RU" dirty="0"/>
              <a:t>). Также принимает </a:t>
            </a:r>
            <a:r>
              <a:rPr lang="ru-RU" dirty="0" err="1"/>
              <a:t>Actor</a:t>
            </a:r>
            <a:r>
              <a:rPr lang="ru-RU" dirty="0"/>
              <a:t>* вместо </a:t>
            </a:r>
            <a:r>
              <a:rPr lang="ru-RU" dirty="0" err="1"/>
              <a:t>Director</a:t>
            </a:r>
            <a:r>
              <a:rPr lang="ru-RU" dirty="0"/>
              <a:t>*.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31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Еще одна критическая ошибка(</a:t>
            </a:r>
            <a:r>
              <a:rPr lang="ru-RU" dirty="0" err="1"/>
              <a:t>отсутсвие</a:t>
            </a:r>
            <a:r>
              <a:rPr lang="ru-RU" dirty="0"/>
              <a:t> указателя на константное значение)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4633"/>
            <a:ext cx="4759089" cy="436869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765321" y="2204633"/>
            <a:ext cx="55884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заголовке объявлен </a:t>
            </a:r>
            <a:r>
              <a:rPr lang="ru-RU" dirty="0" err="1"/>
              <a:t>ToString</a:t>
            </a:r>
            <a:r>
              <a:rPr lang="ru-RU" dirty="0"/>
              <a:t>(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&amp;), в реализации — </a:t>
            </a:r>
            <a:r>
              <a:rPr lang="ru-RU" dirty="0" err="1"/>
              <a:t>ToString</a:t>
            </a:r>
            <a:r>
              <a:rPr lang="ru-RU" dirty="0"/>
              <a:t>(</a:t>
            </a:r>
            <a:r>
              <a:rPr lang="ru-RU" dirty="0" err="1"/>
              <a:t>Order</a:t>
            </a:r>
            <a:r>
              <a:rPr lang="ru-RU" dirty="0"/>
              <a:t>&amp;) без </a:t>
            </a:r>
            <a:r>
              <a:rPr lang="ru-RU" dirty="0" err="1"/>
              <a:t>const</a:t>
            </a:r>
            <a:r>
              <a:rPr lang="ru-RU" dirty="0"/>
              <a:t> → ошибка линковки.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782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br>
              <a:rPr lang="ru-RU" dirty="0"/>
            </a:b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1" y="1328468"/>
            <a:ext cx="58224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Кросс-файловый анализ включён — </a:t>
            </a:r>
            <a:r>
              <a:rPr lang="ru-RU" dirty="0" err="1"/>
              <a:t>Kody</a:t>
            </a:r>
            <a:r>
              <a:rPr lang="ru-RU" dirty="0"/>
              <a:t> успешно обнаружил проблемы, затрагивающие несколько файлов (например, циклические зависимости между </a:t>
            </a:r>
            <a:r>
              <a:rPr lang="ru-RU" dirty="0" err="1"/>
              <a:t>Actor.h</a:t>
            </a:r>
            <a:r>
              <a:rPr lang="ru-RU" dirty="0"/>
              <a:t> и </a:t>
            </a:r>
            <a:r>
              <a:rPr lang="ru-RU" dirty="0" err="1"/>
              <a:t>Movie.h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/>
              <a:t>Бизнес-логика проверялась — </a:t>
            </a:r>
            <a:r>
              <a:rPr lang="ru-RU" dirty="0" err="1"/>
              <a:t>Kody</a:t>
            </a:r>
            <a:r>
              <a:rPr lang="ru-RU" dirty="0"/>
              <a:t> выявил логическую ошибку в </a:t>
            </a:r>
            <a:r>
              <a:rPr lang="ru-RU" dirty="0" err="1"/>
              <a:t>add_directors</a:t>
            </a:r>
            <a:r>
              <a:rPr lang="ru-RU" dirty="0"/>
              <a:t> (метод модифицирует не тот вектор).</a:t>
            </a:r>
          </a:p>
          <a:p>
            <a:endParaRPr lang="ru-RU" dirty="0"/>
          </a:p>
          <a:p>
            <a:r>
              <a:rPr lang="ru-RU" dirty="0"/>
              <a:t>Интерактивность — бот предлагает пользователю реагировать на комментарии (👍 / 👎) для обучения модели.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Некоторые ошибки были </a:t>
            </a:r>
            <a:r>
              <a:rPr lang="en-US" dirty="0"/>
              <a:t>“</a:t>
            </a:r>
            <a:r>
              <a:rPr lang="ru-RU" dirty="0"/>
              <a:t>допущены</a:t>
            </a:r>
            <a:r>
              <a:rPr lang="en-US" dirty="0"/>
              <a:t>”</a:t>
            </a:r>
            <a:r>
              <a:rPr lang="ru-RU" dirty="0"/>
              <a:t> специально, из-за специфичной связи указателей на </a:t>
            </a:r>
            <a:r>
              <a:rPr lang="en-US" dirty="0"/>
              <a:t>C++</a:t>
            </a:r>
            <a:r>
              <a:rPr lang="ru-RU" dirty="0"/>
              <a:t>. </a:t>
            </a:r>
          </a:p>
          <a:p>
            <a:r>
              <a:rPr lang="ru-RU" dirty="0"/>
              <a:t>Но примечания по исправлению ошибок являются полезными и сильно упрощают процесс </a:t>
            </a:r>
            <a:r>
              <a:rPr lang="ru-RU" dirty="0" err="1"/>
              <a:t>дебаггинга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631298-715C-3ADA-7D54-B3B67E9D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194" y="1328468"/>
            <a:ext cx="4778207" cy="487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93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0589D-5BDA-D5F1-6EF1-ED8F1D8D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источников и пожеланий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674C5C-F2FB-8596-9410-8E8397F9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27A13-2E2F-4F2E-8A82-1D293133525B}" type="slidenum">
              <a:rPr lang="ru-RU" smtClean="0"/>
              <a:t>18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3BC7B-4443-4638-EB2B-5FC479B9463B}"/>
              </a:ext>
            </a:extLst>
          </p:cNvPr>
          <p:cNvSpPr txBox="1"/>
          <p:nvPr/>
        </p:nvSpPr>
        <p:spPr>
          <a:xfrm>
            <a:off x="943276" y="1867301"/>
            <a:ext cx="101979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Учебное пособие по лабораторной работе (предоставлено преподавателем)</a:t>
            </a:r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pPr marL="342900" indent="-342900">
              <a:buAutoNum type="arabicParenR"/>
            </a:pPr>
            <a:endParaRPr lang="ru-RU" dirty="0"/>
          </a:p>
          <a:p>
            <a:r>
              <a:rPr lang="ru-RU" dirty="0"/>
              <a:t>Иных материалов не потребовалось, так как процесс регистрации описан достаточно точно, по шагам, единственное, с чем возникли проблемы, это доступ к сайту </a:t>
            </a:r>
            <a:r>
              <a:rPr lang="en-US" dirty="0"/>
              <a:t>kodus.ai</a:t>
            </a:r>
            <a:r>
              <a:rPr lang="ru-RU" dirty="0"/>
              <a:t>, он осуществляется только с помощью личного приватного сервера. </a:t>
            </a:r>
          </a:p>
        </p:txBody>
      </p:sp>
    </p:spTree>
    <p:extLst>
      <p:ext uri="{BB962C8B-B14F-4D97-AF65-F5344CB8AC3E}">
        <p14:creationId xmlns:p14="http://schemas.microsoft.com/office/powerpoint/2010/main" val="39075122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863</Words>
  <Application>Microsoft Office PowerPoint</Application>
  <PresentationFormat>Широкоэкранный</PresentationFormat>
  <Paragraphs>117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Оглавление</vt:lpstr>
      <vt:lpstr>Информация об инструменте</vt:lpstr>
      <vt:lpstr>Анализируемые языки программирования</vt:lpstr>
      <vt:lpstr>Начало статического анализа кода</vt:lpstr>
      <vt:lpstr>Уведомление о начале работы</vt:lpstr>
      <vt:lpstr>Уведомление об успешной проверке</vt:lpstr>
      <vt:lpstr>Первая критическая ошибка (shared_ptr между Actor и Movie)</vt:lpstr>
      <vt:lpstr>Вторая критическая ошибка(бесконечный цикл у add_geners и add_actors)</vt:lpstr>
      <vt:lpstr>Третья критическая ошибка (Хранение Movie* вместо weak_ptr&lt;Movie&gt;)</vt:lpstr>
      <vt:lpstr>Четвертая критическая ошибка(не неинициализированная переменная в order)</vt:lpstr>
      <vt:lpstr>Пятая критическая ошибка (нулевой указатель)</vt:lpstr>
      <vt:lpstr>Шестая критическая ошибка(циклическая зависимость у Movie.h)</vt:lpstr>
      <vt:lpstr>Первая НЕ критическая ошибка(не инициализирован std::shared_ptr&lt;Movie&gt; movie)</vt:lpstr>
      <vt:lpstr>Вторая НЕ критическая ошибка (добавление актеров, вместо режисеров)</vt:lpstr>
      <vt:lpstr>Еще одна критическая ошибка(отсутсвие указателя на константное значение)</vt:lpstr>
      <vt:lpstr>Выводы </vt:lpstr>
      <vt:lpstr>Список источников и пожеланий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Stepan Nebovarenkov</cp:lastModifiedBy>
  <cp:revision>18</cp:revision>
  <dcterms:created xsi:type="dcterms:W3CDTF">2026-04-06T13:34:42Z</dcterms:created>
  <dcterms:modified xsi:type="dcterms:W3CDTF">2026-04-06T18:22:18Z</dcterms:modified>
</cp:coreProperties>
</file>