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7" r:id="rId2"/>
    <p:sldId id="278" r:id="rId3"/>
    <p:sldId id="279" r:id="rId4"/>
    <p:sldId id="273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81" r:id="rId18"/>
    <p:sldId id="283" r:id="rId19"/>
    <p:sldId id="282" r:id="rId20"/>
    <p:sldId id="276" r:id="rId21"/>
    <p:sldId id="280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5313" autoAdjust="0"/>
  </p:normalViewPr>
  <p:slideViewPr>
    <p:cSldViewPr snapToGrid="0">
      <p:cViewPr varScale="1">
        <p:scale>
          <a:sx n="89" d="100"/>
          <a:sy n="89" d="100"/>
        </p:scale>
        <p:origin x="591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C684E2-121A-4D6B-9071-5C929EF90B75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D1AEF-DD74-4B85-93D8-3C2C0F18F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2669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35BB2A-7750-4F15-B86C-FEB94FE9D7B7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3313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D1AEF-DD74-4B85-93D8-3C2C0F18F670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4848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D1AEF-DD74-4B85-93D8-3C2C0F18F670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9397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47F-6AF4-4318-A27B-4F8FC20FB9AC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4588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45611-9BEC-4F6E-A7A2-016B98ED9A5B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826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EA4DD-3B4D-4EAE-9A17-ACA5EF5AE5AE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56065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AF9E-18B6-4C53-A9EB-01F4D00D3082}" type="datetime1">
              <a:rPr lang="ru-RU" smtClean="0"/>
              <a:t>16.04.2026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5610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5B0F0-0CD9-4813-B860-AB929393F0BC}" type="datetime1">
              <a:rPr lang="ru-RU" smtClean="0"/>
              <a:t>16.04.2026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5894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CD37D-B4E5-478E-B1C6-9811DB3A2BC3}" type="datetime1">
              <a:rPr lang="ru-RU" smtClean="0"/>
              <a:t>16.04.2026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1666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55336-877F-4B9E-ABA0-711209675E90}" type="datetime1">
              <a:rPr lang="ru-RU" smtClean="0"/>
              <a:t>16.04.2026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7223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FBEC-B4E5-42F6-9401-C269C822CB37}" type="datetime1">
              <a:rPr lang="ru-RU" smtClean="0"/>
              <a:t>16.04.2026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8826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E4ED0-DB39-4DEB-BDB8-65B049CA9302}" type="datetime1">
              <a:rPr lang="ru-RU" smtClean="0"/>
              <a:t>16.04.2026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1224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1D271-C6DA-48C3-BCC1-D133AD7203D4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8563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878F-82B3-4277-A62B-1A7C958B7AFD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9754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87ADCC-E2E8-4FE7-9F77-8D106CD66237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327A13-2E2F-4F2E-8A82-1D29313352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4312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 descr="Изображение выглядит как зарисовка, диаграмма, Параллельный, рисуно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7434D5A-C08D-EBA0-4253-19400E1EC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000" y="0"/>
            <a:ext cx="12176242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2568ABC-F9C9-7674-7AC8-046D01A49FFB}"/>
              </a:ext>
            </a:extLst>
          </p:cNvPr>
          <p:cNvSpPr txBox="1"/>
          <p:nvPr/>
        </p:nvSpPr>
        <p:spPr>
          <a:xfrm>
            <a:off x="626301" y="1457790"/>
            <a:ext cx="63869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Отчет по лабораторной работе № 7</a:t>
            </a:r>
          </a:p>
          <a:p>
            <a:endParaRPr lang="ru-RU" sz="2400" dirty="0"/>
          </a:p>
          <a:p>
            <a:r>
              <a:rPr lang="ru-RU" sz="2400" dirty="0" err="1"/>
              <a:t>KodusAI</a:t>
            </a:r>
            <a:r>
              <a:rPr lang="ru-RU" sz="2400" dirty="0"/>
              <a:t>. Вариант 12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03276-700E-14FF-D019-58105A8A7754}"/>
              </a:ext>
            </a:extLst>
          </p:cNvPr>
          <p:cNvSpPr txBox="1"/>
          <p:nvPr/>
        </p:nvSpPr>
        <p:spPr>
          <a:xfrm>
            <a:off x="626301" y="5086198"/>
            <a:ext cx="63869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Выполнили: </a:t>
            </a:r>
          </a:p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студ. Небоваринков Степан Константинович, ТКИ-341, </a:t>
            </a:r>
          </a:p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студ. Зверь Вероника Владимировна, ТКИ-341</a:t>
            </a:r>
          </a:p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Проверили:</a:t>
            </a:r>
          </a:p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д. т. н., проф. Сидоренко Валентина Геннадьевна, </a:t>
            </a:r>
          </a:p>
          <a:p>
            <a:pPr algn="just"/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д.</a:t>
            </a:r>
            <a:r>
              <a:rPr lang="en-US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,</a:t>
            </a:r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к. т. н.</a:t>
            </a:r>
            <a:r>
              <a:rPr lang="en-US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,</a:t>
            </a:r>
            <a:r>
              <a:rPr lang="ru-RU" sz="16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Сафронов Антон Игоревич </a:t>
            </a:r>
          </a:p>
        </p:txBody>
      </p:sp>
    </p:spTree>
    <p:extLst>
      <p:ext uri="{BB962C8B-B14F-4D97-AF65-F5344CB8AC3E}">
        <p14:creationId xmlns:p14="http://schemas.microsoft.com/office/powerpoint/2010/main" val="334633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FEFCA-721F-5CCD-3701-CDA33EDBA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Оглавление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34175C9-EA50-F874-3BAB-64A97D1D1B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371085"/>
              </p:ext>
            </p:extLst>
          </p:nvPr>
        </p:nvGraphicFramePr>
        <p:xfrm>
          <a:off x="838200" y="953450"/>
          <a:ext cx="9966158" cy="5468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802">
                  <a:extLst>
                    <a:ext uri="{9D8B030D-6E8A-4147-A177-3AD203B41FA5}">
                      <a16:colId xmlns:a16="http://schemas.microsoft.com/office/drawing/2014/main" val="141542384"/>
                    </a:ext>
                  </a:extLst>
                </a:gridCol>
                <a:gridCol w="1553356">
                  <a:extLst>
                    <a:ext uri="{9D8B030D-6E8A-4147-A177-3AD203B41FA5}">
                      <a16:colId xmlns:a16="http://schemas.microsoft.com/office/drawing/2014/main" val="2830357005"/>
                    </a:ext>
                  </a:extLst>
                </a:gridCol>
              </a:tblGrid>
              <a:tr h="3824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слайда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Слайд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8713436"/>
                  </a:ext>
                </a:extLst>
              </a:tr>
              <a:tr h="28859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ru-RU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Информация об инструменте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ru-RU" sz="14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2482158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Анализируемые языки программирования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6047608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Начало статического анализа кода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1002657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Уведомление о начале работы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43300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Уведомление об успешной проверке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3708350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Первая критическая ошибка (</a:t>
                      </a:r>
                      <a:r>
                        <a:rPr lang="ru-RU" altLang="ru-RU" sz="1400" i="1" dirty="0" err="1"/>
                        <a:t>shared_ptr</a:t>
                      </a:r>
                      <a:r>
                        <a:rPr lang="ru-RU" altLang="ru-RU" sz="1400" i="1" dirty="0"/>
                        <a:t> </a:t>
                      </a:r>
                      <a:r>
                        <a:rPr lang="ru-RU" altLang="ru-RU" sz="1400" dirty="0"/>
                        <a:t>между </a:t>
                      </a:r>
                      <a:r>
                        <a:rPr lang="ru-RU" altLang="ru-RU" sz="1400" i="1" dirty="0" err="1"/>
                        <a:t>Actor</a:t>
                      </a:r>
                      <a:r>
                        <a:rPr lang="ru-RU" altLang="ru-RU" sz="1400" dirty="0"/>
                        <a:t> и </a:t>
                      </a:r>
                      <a:r>
                        <a:rPr lang="ru-RU" altLang="ru-RU" sz="1400" i="1" dirty="0"/>
                        <a:t>Movie</a:t>
                      </a:r>
                      <a:r>
                        <a:rPr lang="ru-RU" altLang="ru-RU" sz="1400" dirty="0"/>
                        <a:t>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7371628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Вторая критическая ошибка(бесконечный цикл у </a:t>
                      </a:r>
                      <a:r>
                        <a:rPr lang="en-US" sz="1400" i="1" dirty="0" err="1"/>
                        <a:t>add_geners</a:t>
                      </a:r>
                      <a:r>
                        <a:rPr lang="en-US" sz="1400" i="1" dirty="0"/>
                        <a:t> </a:t>
                      </a:r>
                      <a:r>
                        <a:rPr lang="ru-RU" sz="1400" dirty="0"/>
                        <a:t>и </a:t>
                      </a:r>
                      <a:r>
                        <a:rPr lang="en-US" sz="1400" i="1" dirty="0" err="1"/>
                        <a:t>add_actors</a:t>
                      </a:r>
                      <a:r>
                        <a:rPr lang="en-US" sz="1400" dirty="0"/>
                        <a:t>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1147790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Третья критическая ошибка (Хранение </a:t>
                      </a:r>
                      <a:r>
                        <a:rPr lang="ru-RU" sz="1400" i="1" dirty="0"/>
                        <a:t>Movie* </a:t>
                      </a:r>
                      <a:r>
                        <a:rPr lang="ru-RU" sz="1400" dirty="0"/>
                        <a:t>вместо </a:t>
                      </a:r>
                      <a:r>
                        <a:rPr lang="ru-RU" sz="1400" i="1" dirty="0" err="1"/>
                        <a:t>weak_ptr</a:t>
                      </a:r>
                      <a:r>
                        <a:rPr lang="ru-RU" sz="1400" i="1" dirty="0"/>
                        <a:t>&lt;Movie&gt;</a:t>
                      </a:r>
                      <a:r>
                        <a:rPr lang="ru-RU" sz="1400" dirty="0"/>
                        <a:t>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005487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Четвертая критическая ошибка(не неинициализированная переменная в </a:t>
                      </a:r>
                      <a:r>
                        <a:rPr lang="en-US" sz="1400" i="1" dirty="0"/>
                        <a:t>order</a:t>
                      </a:r>
                      <a:r>
                        <a:rPr lang="en-US" sz="1400" dirty="0"/>
                        <a:t>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13589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Пятая критическая ошибка</a:t>
                      </a:r>
                      <a:r>
                        <a:rPr lang="en-US" sz="1400" dirty="0"/>
                        <a:t> (</a:t>
                      </a:r>
                      <a:r>
                        <a:rPr lang="ru-RU" sz="1400" dirty="0"/>
                        <a:t>нулевой указатель)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1408089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Шестая критическая ошибка(циклическая зависимость у </a:t>
                      </a:r>
                      <a:r>
                        <a:rPr lang="ru-RU" sz="1400" i="1" dirty="0" err="1"/>
                        <a:t>Movie.h</a:t>
                      </a:r>
                      <a:r>
                        <a:rPr lang="ru-RU" sz="1400" dirty="0"/>
                        <a:t>)</a:t>
                      </a:r>
                      <a:endParaRPr lang="ru-RU" sz="1400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910897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Первая НЕ критическая ошибка(не инициализирован </a:t>
                      </a:r>
                      <a:r>
                        <a:rPr lang="ru-RU" sz="1400" i="1" dirty="0" err="1"/>
                        <a:t>std</a:t>
                      </a:r>
                      <a:r>
                        <a:rPr lang="ru-RU" sz="1400" i="1" dirty="0"/>
                        <a:t>::</a:t>
                      </a:r>
                      <a:r>
                        <a:rPr lang="ru-RU" sz="1400" i="1" dirty="0" err="1"/>
                        <a:t>shared_ptr</a:t>
                      </a:r>
                      <a:r>
                        <a:rPr lang="ru-RU" sz="1400" i="1" dirty="0"/>
                        <a:t>&lt;Movie&gt; </a:t>
                      </a:r>
                      <a:r>
                        <a:rPr lang="ru-RU" sz="1400" i="1" dirty="0" err="1"/>
                        <a:t>movie</a:t>
                      </a:r>
                      <a:r>
                        <a:rPr lang="ru-RU" sz="1400" dirty="0"/>
                        <a:t>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833900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Вторая НЕ критическая ошибка (добавление актеров, вместо </a:t>
                      </a:r>
                      <a:r>
                        <a:rPr lang="ru-RU" sz="1400" dirty="0" err="1"/>
                        <a:t>режисеров</a:t>
                      </a:r>
                      <a:r>
                        <a:rPr lang="ru-RU" sz="1400" dirty="0"/>
                        <a:t>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2275894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Еще одна критическая ошибка(</a:t>
                      </a:r>
                      <a:r>
                        <a:rPr lang="ru-RU" sz="1400" dirty="0" err="1"/>
                        <a:t>отсутсвие</a:t>
                      </a:r>
                      <a:r>
                        <a:rPr lang="ru-RU" sz="1400" dirty="0"/>
                        <a:t> указателя на константное значение)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826930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Выводы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7315688"/>
                  </a:ext>
                </a:extLst>
              </a:tr>
              <a:tr h="318739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Список источников и пожеланий</a:t>
                      </a:r>
                      <a:endParaRPr lang="ru-RU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08282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5793A1-D632-1688-2E92-6187FC1DF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D52DFA-09F4-4FAF-913E-A5D4A31DEA7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9846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3B81C3-6E4E-440D-1DB8-E0EEFA29E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Информация об инструменте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3A589CD-7DE2-4645-B32A-BC604A3AA2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Инструмент, а именно доступ к нему, не возможен в настоящее время без использования виртуального приватного сервера. 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Сам инструмент после применения настроек предстает в виде бота, который оставляет комментарии к коду в репозитории (</a:t>
            </a:r>
            <a:r>
              <a:rPr lang="en-US" i="1" dirty="0" err="1"/>
              <a:t>kody</a:t>
            </a:r>
            <a:r>
              <a:rPr lang="en-US" i="1" dirty="0"/>
              <a:t>-ai</a:t>
            </a:r>
            <a:r>
              <a:rPr lang="en-US" dirty="0"/>
              <a:t>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Он может использоваться в </a:t>
            </a:r>
            <a:r>
              <a:rPr lang="en-US" i="1" dirty="0"/>
              <a:t>GitHub, GitLab, Bitbucket, Azure DevOps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Но был выбран </a:t>
            </a:r>
            <a:r>
              <a:rPr lang="en-US" i="1" dirty="0"/>
              <a:t>GitHub</a:t>
            </a:r>
            <a:r>
              <a:rPr lang="ru-RU" dirty="0"/>
              <a:t>, так как на нем есть достаточно интересный для анализа проект.</a:t>
            </a:r>
            <a:endParaRPr lang="en-US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2072A26-2A43-7A70-2020-6DCAA60C4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6364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Анализируемые языки программирования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1048" y="1863305"/>
            <a:ext cx="431320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Так как читать сложно, учебное пособие после самого инструмента который надо использовать, было изучено только тогда, когда работа уже была проделана с другим кодом и языком программирования, в учебном пособии требуется анализировать код на </a:t>
            </a:r>
            <a:r>
              <a:rPr lang="en-US" sz="2400" dirty="0"/>
              <a:t>Python, </a:t>
            </a:r>
            <a:r>
              <a:rPr lang="ru-RU" sz="2400" dirty="0"/>
              <a:t>а мы рассмотрели </a:t>
            </a:r>
            <a:r>
              <a:rPr lang="ru-RU" sz="2400" dirty="0" err="1"/>
              <a:t>репозиторий</a:t>
            </a:r>
            <a:r>
              <a:rPr lang="ru-RU" sz="2400" dirty="0"/>
              <a:t> прошлого года на </a:t>
            </a:r>
            <a:r>
              <a:rPr lang="en-US" sz="2400" dirty="0"/>
              <a:t>C++. </a:t>
            </a:r>
            <a:endParaRPr lang="ru-RU" sz="24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4</a:t>
            </a:fld>
            <a:endParaRPr lang="ru-RU"/>
          </a:p>
        </p:txBody>
      </p:sp>
      <p:pic>
        <p:nvPicPr>
          <p:cNvPr id="6146" name="Picture 2" descr="https://images.meme-arsenal.com/358b6731f9249382d53d7095de8d209e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676"/>
          <a:stretch/>
        </p:blipFill>
        <p:spPr bwMode="auto">
          <a:xfrm>
            <a:off x="6001816" y="2087593"/>
            <a:ext cx="5783190" cy="35708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6584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Начало статического анализа кода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72" y="2310063"/>
            <a:ext cx="6277069" cy="3962400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7637253" y="1530583"/>
            <a:ext cx="4077419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В рамках самостоятельной работы был проанализирован проект «</a:t>
            </a:r>
            <a:r>
              <a:rPr lang="ru-RU" i="1" dirty="0" err="1"/>
              <a:t>Filmoteka</a:t>
            </a:r>
            <a:r>
              <a:rPr lang="ru-RU" dirty="0"/>
              <a:t>» (система управления фильмотекой) на языке C++.</a:t>
            </a:r>
          </a:p>
          <a:p>
            <a:endParaRPr lang="ru-RU" dirty="0"/>
          </a:p>
          <a:p>
            <a:r>
              <a:rPr lang="ru-RU" i="1" dirty="0" err="1"/>
              <a:t>Film_Storage</a:t>
            </a:r>
            <a:r>
              <a:rPr lang="ru-RU" i="1" dirty="0"/>
              <a:t> </a:t>
            </a:r>
            <a:r>
              <a:rPr lang="ru-RU" dirty="0"/>
              <a:t>— библиотека для управления фильмами (классы </a:t>
            </a:r>
            <a:r>
              <a:rPr lang="ru-RU" dirty="0" err="1"/>
              <a:t>Person</a:t>
            </a:r>
            <a:r>
              <a:rPr lang="ru-RU" dirty="0"/>
              <a:t>, </a:t>
            </a:r>
            <a:r>
              <a:rPr lang="ru-RU" i="1" dirty="0" err="1"/>
              <a:t>Actor</a:t>
            </a:r>
            <a:r>
              <a:rPr lang="ru-RU" i="1" dirty="0"/>
              <a:t>, </a:t>
            </a:r>
            <a:r>
              <a:rPr lang="ru-RU" i="1" dirty="0" err="1"/>
              <a:t>Director</a:t>
            </a:r>
            <a:r>
              <a:rPr lang="ru-RU" i="1" dirty="0"/>
              <a:t>, </a:t>
            </a:r>
            <a:r>
              <a:rPr lang="ru-RU" i="1" dirty="0" err="1"/>
              <a:t>Genre</a:t>
            </a:r>
            <a:r>
              <a:rPr lang="ru-RU" i="1" dirty="0"/>
              <a:t>, </a:t>
            </a:r>
            <a:r>
              <a:rPr lang="ru-RU" i="1" dirty="0" err="1"/>
              <a:t>Movie</a:t>
            </a:r>
            <a:r>
              <a:rPr lang="ru-RU" i="1" dirty="0"/>
              <a:t>, </a:t>
            </a:r>
            <a:r>
              <a:rPr lang="ru-RU" i="1" dirty="0" err="1"/>
              <a:t>Order</a:t>
            </a:r>
            <a:r>
              <a:rPr lang="ru-RU" i="1" dirty="0"/>
              <a:t>, </a:t>
            </a:r>
            <a:r>
              <a:rPr lang="ru-RU" i="1" dirty="0" err="1"/>
              <a:t>Storage</a:t>
            </a:r>
            <a:r>
              <a:rPr lang="ru-RU" dirty="0"/>
              <a:t>)</a:t>
            </a:r>
          </a:p>
          <a:p>
            <a:endParaRPr lang="ru-RU" dirty="0"/>
          </a:p>
          <a:p>
            <a:r>
              <a:rPr lang="ru-RU" i="1" dirty="0" err="1"/>
              <a:t>Film_Second_Try</a:t>
            </a:r>
            <a:r>
              <a:rPr lang="ru-RU" i="1" dirty="0"/>
              <a:t> </a:t>
            </a:r>
            <a:r>
              <a:rPr lang="ru-RU" dirty="0"/>
              <a:t>— консольное клиентское приложение</a:t>
            </a:r>
          </a:p>
          <a:p>
            <a:endParaRPr lang="ru-RU" dirty="0"/>
          </a:p>
          <a:p>
            <a:r>
              <a:rPr lang="ru-RU" i="1" dirty="0" err="1"/>
              <a:t>Film_Storage_Tests</a:t>
            </a:r>
            <a:r>
              <a:rPr lang="ru-RU" i="1" dirty="0"/>
              <a:t> </a:t>
            </a:r>
            <a:r>
              <a:rPr lang="ru-RU" dirty="0"/>
              <a:t>— модульные тесты</a:t>
            </a:r>
          </a:p>
        </p:txBody>
      </p: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3694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Уведомление о начале работы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12545"/>
            <a:ext cx="10347158" cy="1907757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4490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Уведомление об успешной проверке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509" y="1690688"/>
            <a:ext cx="5238238" cy="40105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92506" y="1992702"/>
            <a:ext cx="45892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 данном скриншоте показаны опции, которые были использованы при анализе </a:t>
            </a:r>
            <a:r>
              <a:rPr lang="ru-RU" dirty="0" err="1"/>
              <a:t>репозитория</a:t>
            </a:r>
            <a:r>
              <a:rPr lang="ru-RU" dirty="0"/>
              <a:t>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542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418545" cy="1179730"/>
          </a:xfrm>
        </p:spPr>
        <p:txBody>
          <a:bodyPr>
            <a:normAutofit fontScale="90000"/>
          </a:bodyPr>
          <a:lstStyle/>
          <a:p>
            <a:r>
              <a:rPr lang="ru-RU" dirty="0"/>
              <a:t>Первая критическая ошибка (</a:t>
            </a:r>
            <a:r>
              <a:rPr lang="ru-RU" altLang="ru-RU" i="1" dirty="0" err="1"/>
              <a:t>shared_ptr</a:t>
            </a:r>
            <a:r>
              <a:rPr lang="ru-RU" altLang="ru-RU" i="1" dirty="0"/>
              <a:t> </a:t>
            </a:r>
            <a:r>
              <a:rPr lang="ru-RU" altLang="ru-RU" dirty="0"/>
              <a:t>между </a:t>
            </a:r>
            <a:r>
              <a:rPr lang="ru-RU" altLang="ru-RU" i="1" dirty="0" err="1"/>
              <a:t>Actor</a:t>
            </a:r>
            <a:r>
              <a:rPr lang="ru-RU" altLang="ru-RU" dirty="0"/>
              <a:t> и </a:t>
            </a:r>
            <a:r>
              <a:rPr lang="ru-RU" altLang="ru-RU" i="1" dirty="0"/>
              <a:t>Movie</a:t>
            </a:r>
            <a:r>
              <a:rPr lang="ru-RU" altLang="ru-RU" dirty="0"/>
              <a:t>)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5163394" cy="4844716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317412" y="1819546"/>
            <a:ext cx="447423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dirty="0" err="1"/>
              <a:t>shared_ptr</a:t>
            </a:r>
            <a:r>
              <a:rPr lang="ru-RU" altLang="ru-RU" dirty="0"/>
              <a:t> между </a:t>
            </a:r>
            <a:r>
              <a:rPr lang="ru-RU" altLang="ru-RU" dirty="0" err="1"/>
              <a:t>Actor</a:t>
            </a:r>
            <a:r>
              <a:rPr lang="ru-RU" altLang="ru-RU" dirty="0"/>
              <a:t> и </a:t>
            </a:r>
            <a:r>
              <a:rPr lang="ru-RU" altLang="ru-RU" dirty="0" err="1"/>
              <a:t>Movie</a:t>
            </a:r>
            <a:r>
              <a:rPr lang="ru-RU" altLang="ru-RU" dirty="0"/>
              <a:t> создаёт цикл, счётчики ссылок никогда не достигают нуля. Рекомендуется заменить один из указателей на </a:t>
            </a:r>
            <a:r>
              <a:rPr lang="ru-RU" altLang="ru-RU" dirty="0" err="1"/>
              <a:t>weak_ptr</a:t>
            </a:r>
            <a:r>
              <a:rPr lang="ru-RU" altLang="ru-RU" dirty="0"/>
              <a:t>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4045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Вторая критическая ошибка(бесконечный цикл у </a:t>
            </a:r>
            <a:r>
              <a:rPr lang="en-US" i="1" dirty="0" err="1"/>
              <a:t>add_geners</a:t>
            </a:r>
            <a:r>
              <a:rPr lang="en-US" i="1" dirty="0"/>
              <a:t> </a:t>
            </a:r>
            <a:r>
              <a:rPr lang="ru-RU" dirty="0"/>
              <a:t>и </a:t>
            </a:r>
            <a:r>
              <a:rPr lang="en-US" i="1" dirty="0" err="1"/>
              <a:t>add_actors</a:t>
            </a:r>
            <a:r>
              <a:rPr lang="en-US" dirty="0"/>
              <a:t>)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5234587" cy="4858351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523970" y="1690688"/>
            <a:ext cx="498022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Метод изменяет вектор, по которому итерируется (параметр </a:t>
            </a:r>
            <a:r>
              <a:rPr lang="ru-RU" dirty="0" err="1"/>
              <a:t>genres</a:t>
            </a:r>
            <a:r>
              <a:rPr lang="ru-RU" dirty="0"/>
              <a:t>), что приводит к бесконечному циклу и исчерпанию памяти.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8493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Третья критическая ошибка (Хранение </a:t>
            </a:r>
            <a:r>
              <a:rPr lang="ru-RU" i="1" dirty="0"/>
              <a:t>Movie* </a:t>
            </a:r>
            <a:r>
              <a:rPr lang="ru-RU" dirty="0"/>
              <a:t>вместо </a:t>
            </a:r>
            <a:r>
              <a:rPr lang="ru-RU" i="1" dirty="0" err="1"/>
              <a:t>weak_ptr</a:t>
            </a:r>
            <a:r>
              <a:rPr lang="ru-RU" i="1" dirty="0"/>
              <a:t>&lt;Movie&gt;</a:t>
            </a:r>
            <a:r>
              <a:rPr lang="ru-RU" dirty="0"/>
              <a:t>)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28497"/>
            <a:ext cx="4833233" cy="4410325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6096000" y="23031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Хранение </a:t>
            </a:r>
            <a:r>
              <a:rPr lang="ru-RU" dirty="0" err="1"/>
              <a:t>Movie</a:t>
            </a:r>
            <a:r>
              <a:rPr lang="ru-RU" dirty="0"/>
              <a:t>* вместо </a:t>
            </a:r>
            <a:r>
              <a:rPr lang="ru-RU" dirty="0" err="1"/>
              <a:t>weak_ptr</a:t>
            </a:r>
            <a:r>
              <a:rPr lang="ru-RU" dirty="0"/>
              <a:t>&lt;</a:t>
            </a:r>
            <a:r>
              <a:rPr lang="ru-RU" dirty="0" err="1"/>
              <a:t>Movie</a:t>
            </a:r>
            <a:r>
              <a:rPr lang="ru-RU" dirty="0"/>
              <a:t>&gt; приводит к неопределённому поведению при доступе к освобождённой памяти.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0389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Четвертая критическая ошибка(не неинициализированная переменная в </a:t>
            </a:r>
            <a:r>
              <a:rPr lang="en-US" i="1" dirty="0"/>
              <a:t>order</a:t>
            </a:r>
            <a:r>
              <a:rPr lang="en-US" dirty="0"/>
              <a:t>)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64687"/>
            <a:ext cx="4744519" cy="4551773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722189" y="2064687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Локальная переменная </a:t>
            </a:r>
            <a:r>
              <a:rPr lang="ru-RU" dirty="0" err="1"/>
              <a:t>order</a:t>
            </a:r>
            <a:r>
              <a:rPr lang="ru-RU" dirty="0"/>
              <a:t> скрывает член класса, оставляя его неинициализированным → разыменование нулевого указателя.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5351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Пятая критическая ошибка</a:t>
            </a:r>
            <a:r>
              <a:rPr lang="en-US" dirty="0"/>
              <a:t> (</a:t>
            </a:r>
            <a:r>
              <a:rPr lang="ru-RU" dirty="0"/>
              <a:t>нулевой указатель)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40943"/>
            <a:ext cx="4355403" cy="464963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541034" y="1940943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При пустом хранилище фильмов метод разыменовывает нулевой указатель → крах приложения.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9547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Шестая критическая ошибка(циклическая зависимость у </a:t>
            </a:r>
            <a:r>
              <a:rPr lang="ru-RU" i="1" dirty="0" err="1"/>
              <a:t>Movie.h</a:t>
            </a:r>
            <a:r>
              <a:rPr lang="ru-RU" dirty="0"/>
              <a:t>)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81332"/>
            <a:ext cx="5458793" cy="4686885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6386423" y="2303579"/>
            <a:ext cx="508670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Включение </a:t>
            </a:r>
            <a:r>
              <a:rPr lang="ru-RU" dirty="0" err="1"/>
              <a:t>Movie.h</a:t>
            </a:r>
            <a:r>
              <a:rPr lang="ru-RU" dirty="0"/>
              <a:t> создаёт циклическую зависимость → ошибка компиляции.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8442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375385" y="365125"/>
            <a:ext cx="11521439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Первая НЕ критическая ошибка(не инициализирован </a:t>
            </a:r>
            <a:r>
              <a:rPr lang="ru-RU" i="1" dirty="0" err="1"/>
              <a:t>std</a:t>
            </a:r>
            <a:r>
              <a:rPr lang="ru-RU" i="1" dirty="0"/>
              <a:t>::</a:t>
            </a:r>
            <a:r>
              <a:rPr lang="ru-RU" i="1" dirty="0" err="1"/>
              <a:t>shared_ptr</a:t>
            </a:r>
            <a:r>
              <a:rPr lang="ru-RU" i="1" dirty="0"/>
              <a:t>&lt;Movie&gt; </a:t>
            </a:r>
            <a:r>
              <a:rPr lang="ru-RU" i="1" dirty="0" err="1"/>
              <a:t>movie</a:t>
            </a:r>
            <a:r>
              <a:rPr lang="ru-RU" dirty="0"/>
              <a:t>)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638" y="1956129"/>
            <a:ext cx="5254362" cy="4720716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208143" y="1956129"/>
            <a:ext cx="531674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Конструктор </a:t>
            </a:r>
            <a:r>
              <a:rPr lang="ru-RU" dirty="0" err="1"/>
              <a:t>Genre</a:t>
            </a:r>
            <a:r>
              <a:rPr lang="ru-RU" dirty="0"/>
              <a:t>(</a:t>
            </a:r>
            <a:r>
              <a:rPr lang="ru-RU" dirty="0" err="1"/>
              <a:t>const</a:t>
            </a:r>
            <a:r>
              <a:rPr lang="ru-RU" dirty="0"/>
              <a:t>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&amp;) не инициализирует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shared_ptr</a:t>
            </a:r>
            <a:r>
              <a:rPr lang="ru-RU" dirty="0"/>
              <a:t>&lt;</a:t>
            </a:r>
            <a:r>
              <a:rPr lang="ru-RU" dirty="0" err="1"/>
              <a:t>Movie</a:t>
            </a:r>
            <a:r>
              <a:rPr lang="ru-RU" dirty="0"/>
              <a:t>&gt; </a:t>
            </a:r>
            <a:r>
              <a:rPr lang="ru-RU" dirty="0" err="1"/>
              <a:t>movie</a:t>
            </a:r>
            <a:r>
              <a:rPr lang="ru-RU" dirty="0"/>
              <a:t>, оставляя его </a:t>
            </a:r>
            <a:r>
              <a:rPr lang="ru-RU" dirty="0" err="1"/>
              <a:t>nullptr</a:t>
            </a:r>
            <a:r>
              <a:rPr lang="ru-RU" dirty="0"/>
              <a:t>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7092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Вторая НЕ критическая ошибка (добавление актеров, вместо </a:t>
            </a:r>
            <a:r>
              <a:rPr lang="ru-RU" dirty="0" err="1"/>
              <a:t>режисеров</a:t>
            </a:r>
            <a:r>
              <a:rPr lang="ru-RU" dirty="0"/>
              <a:t>)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83298"/>
            <a:ext cx="4526986" cy="4624535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5523781" y="1983298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Метод называется </a:t>
            </a:r>
            <a:r>
              <a:rPr lang="ru-RU" dirty="0" err="1"/>
              <a:t>add_directors</a:t>
            </a:r>
            <a:r>
              <a:rPr lang="ru-RU" dirty="0"/>
              <a:t>, но добавляет элементы в </a:t>
            </a:r>
            <a:r>
              <a:rPr lang="ru-RU" dirty="0" err="1"/>
              <a:t>this</a:t>
            </a:r>
            <a:r>
              <a:rPr lang="ru-RU" dirty="0"/>
              <a:t>-&gt;</a:t>
            </a:r>
            <a:r>
              <a:rPr lang="ru-RU" dirty="0" err="1"/>
              <a:t>actors</a:t>
            </a:r>
            <a:r>
              <a:rPr lang="ru-RU" dirty="0"/>
              <a:t> (а не в </a:t>
            </a:r>
            <a:r>
              <a:rPr lang="ru-RU" dirty="0" err="1"/>
              <a:t>this</a:t>
            </a:r>
            <a:r>
              <a:rPr lang="ru-RU" dirty="0"/>
              <a:t>-&gt;</a:t>
            </a:r>
            <a:r>
              <a:rPr lang="ru-RU" dirty="0" err="1"/>
              <a:t>directors</a:t>
            </a:r>
            <a:r>
              <a:rPr lang="ru-RU" dirty="0"/>
              <a:t>). Также принимает </a:t>
            </a:r>
            <a:r>
              <a:rPr lang="ru-RU" dirty="0" err="1"/>
              <a:t>Actor</a:t>
            </a:r>
            <a:r>
              <a:rPr lang="ru-RU" dirty="0"/>
              <a:t>* вместо </a:t>
            </a:r>
            <a:r>
              <a:rPr lang="ru-RU" dirty="0" err="1"/>
              <a:t>Director</a:t>
            </a:r>
            <a:r>
              <a:rPr lang="ru-RU" dirty="0"/>
              <a:t>*.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43161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Еще одна критическая ошибка(</a:t>
            </a:r>
            <a:r>
              <a:rPr lang="ru-RU" dirty="0" err="1"/>
              <a:t>отсутсвие</a:t>
            </a:r>
            <a:r>
              <a:rPr lang="ru-RU" dirty="0"/>
              <a:t> указателя на константное значение)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04633"/>
            <a:ext cx="4759089" cy="4368695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5765321" y="2204633"/>
            <a:ext cx="558847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В заголовке объявлен </a:t>
            </a:r>
            <a:r>
              <a:rPr lang="ru-RU" dirty="0" err="1"/>
              <a:t>ToString</a:t>
            </a:r>
            <a:r>
              <a:rPr lang="ru-RU" dirty="0"/>
              <a:t>(</a:t>
            </a:r>
            <a:r>
              <a:rPr lang="ru-RU" dirty="0" err="1"/>
              <a:t>const</a:t>
            </a:r>
            <a:r>
              <a:rPr lang="ru-RU" dirty="0"/>
              <a:t> </a:t>
            </a:r>
            <a:r>
              <a:rPr lang="ru-RU" dirty="0" err="1"/>
              <a:t>Order</a:t>
            </a:r>
            <a:r>
              <a:rPr lang="ru-RU" dirty="0"/>
              <a:t>&amp;), в реализации — </a:t>
            </a:r>
            <a:r>
              <a:rPr lang="ru-RU" dirty="0" err="1"/>
              <a:t>ToString</a:t>
            </a:r>
            <a:r>
              <a:rPr lang="ru-RU" dirty="0"/>
              <a:t>(</a:t>
            </a:r>
            <a:r>
              <a:rPr lang="ru-RU" dirty="0" err="1"/>
              <a:t>Order</a:t>
            </a:r>
            <a:r>
              <a:rPr lang="ru-RU" dirty="0"/>
              <a:t>&amp;) без </a:t>
            </a:r>
            <a:r>
              <a:rPr lang="ru-RU" dirty="0" err="1"/>
              <a:t>const</a:t>
            </a:r>
            <a:r>
              <a:rPr lang="ru-RU" dirty="0"/>
              <a:t> → ошибка линковки.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37822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56170E-AAEB-47D8-D7D2-D5D2C5DED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07027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критических ошибок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D367B5A-6021-E1CE-85C1-D73934661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8327A13-2E2F-4F2E-8A82-1D293133525B}" type="slidenum">
              <a:rPr lang="ru-RU" smtClean="0"/>
              <a:pPr algn="ctr"/>
              <a:t>17</a:t>
            </a:fld>
            <a:endParaRPr lang="ru-RU"/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F08C1867-3DD9-177B-D2D4-18E3687EF5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898705"/>
              </p:ext>
            </p:extLst>
          </p:nvPr>
        </p:nvGraphicFramePr>
        <p:xfrm>
          <a:off x="245444" y="647477"/>
          <a:ext cx="11680257" cy="5734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81261951"/>
                    </a:ext>
                  </a:extLst>
                </a:gridCol>
                <a:gridCol w="6232358">
                  <a:extLst>
                    <a:ext uri="{9D8B030D-6E8A-4147-A177-3AD203B41FA5}">
                      <a16:colId xmlns:a16="http://schemas.microsoft.com/office/drawing/2014/main" val="339801977"/>
                    </a:ext>
                  </a:extLst>
                </a:gridCol>
                <a:gridCol w="4899259">
                  <a:extLst>
                    <a:ext uri="{9D8B030D-6E8A-4147-A177-3AD203B41FA5}">
                      <a16:colId xmlns:a16="http://schemas.microsoft.com/office/drawing/2014/main" val="2888985733"/>
                    </a:ext>
                  </a:extLst>
                </a:gridCol>
              </a:tblGrid>
              <a:tr h="595602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Описание критической ошибки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Исправление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8013040"/>
                  </a:ext>
                </a:extLst>
              </a:tr>
              <a:tr h="100442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altLang="ru-RU" sz="1200" dirty="0" err="1"/>
                        <a:t>shared_ptr</a:t>
                      </a:r>
                      <a:r>
                        <a:rPr lang="ru-RU" altLang="ru-RU" sz="1200" dirty="0"/>
                        <a:t> между </a:t>
                      </a:r>
                      <a:r>
                        <a:rPr lang="ru-RU" altLang="ru-RU" sz="1200" dirty="0" err="1"/>
                        <a:t>Actor</a:t>
                      </a:r>
                      <a:r>
                        <a:rPr lang="ru-RU" altLang="ru-RU" sz="1200" dirty="0"/>
                        <a:t> и Movie создаёт цикл, счётчики ссылок никогда не достигают нуля</a:t>
                      </a:r>
                    </a:p>
                    <a:p>
                      <a:pPr algn="ct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Необходимо заменить одну из связей на 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std::</a:t>
                      </a:r>
                      <a:r>
                        <a:rPr 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weak_ptr</a:t>
                      </a:r>
                      <a:endParaRPr lang="en-US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endParaRPr lang="en-US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34571"/>
                  </a:ext>
                </a:extLst>
              </a:tr>
              <a:tr h="2565133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Метод изменяет вектор, по которому итерируется (параметр </a:t>
                      </a:r>
                      <a:r>
                        <a:rPr lang="ru-RU" sz="1200" dirty="0" err="1"/>
                        <a:t>genres</a:t>
                      </a:r>
                      <a:r>
                        <a:rPr lang="ru-RU" sz="1200" dirty="0"/>
                        <a:t>), что приводит к бесконечному циклу и исчерпанию памяти.</a:t>
                      </a:r>
                    </a:p>
                    <a:p>
                      <a:pPr algn="ctr"/>
                      <a:endParaRPr lang="en-US" sz="1200" dirty="0"/>
                    </a:p>
                    <a:p>
                      <a:pPr algn="ctr"/>
                      <a:endParaRPr lang="en-US" sz="1200" dirty="0"/>
                    </a:p>
                    <a:p>
                      <a:pPr algn="ct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Теперь методы добавляют в член класса, а не параметры</a:t>
                      </a:r>
                    </a:p>
                    <a:p>
                      <a:pPr algn="ctr"/>
                      <a:endParaRPr lang="ru-RU" sz="1200" dirty="0"/>
                    </a:p>
                    <a:p>
                      <a:pPr algn="ctr"/>
                      <a:endParaRPr lang="ru-RU" sz="1200" dirty="0"/>
                    </a:p>
                    <a:p>
                      <a:pPr algn="ct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6973174"/>
                  </a:ext>
                </a:extLst>
              </a:tr>
              <a:tr h="1568917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Хранение сырых указателей (</a:t>
                      </a:r>
                      <a:r>
                        <a:rPr lang="ru-RU" sz="1100" dirty="0"/>
                        <a:t>Movie*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вместо </a:t>
                      </a:r>
                      <a:r>
                        <a:rPr lang="ru-RU" sz="1100" dirty="0" err="1"/>
                        <a:t>std</a:t>
                      </a:r>
                      <a:r>
                        <a:rPr lang="ru-RU" sz="1100" dirty="0"/>
                        <a:t>::</a:t>
                      </a:r>
                      <a:r>
                        <a:rPr lang="ru-RU" sz="1100" dirty="0" err="1"/>
                        <a:t>weak_ptr</a:t>
                      </a:r>
                      <a:r>
                        <a:rPr lang="ru-RU" sz="1100" dirty="0"/>
                        <a:t>&lt;Movie&gt;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приводит к висячим указателям и неопределенному поведению при доступе к освобожденной памяти.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Заменили </a:t>
                      </a:r>
                      <a:r>
                        <a:rPr lang="en-US" sz="1100" dirty="0"/>
                        <a:t>std::vector&lt;Movie*&gt;</a:t>
                      </a:r>
                      <a:r>
                        <a:rPr 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на </a:t>
                      </a:r>
                      <a:r>
                        <a:rPr lang="en-US" sz="1100" dirty="0"/>
                        <a:t>std::vector&lt;std::</a:t>
                      </a:r>
                      <a:r>
                        <a:rPr lang="en-US" sz="1100" dirty="0" err="1"/>
                        <a:t>weak_ptr</a:t>
                      </a:r>
                      <a:r>
                        <a:rPr lang="en-US" sz="1100" dirty="0"/>
                        <a:t>&lt;Movie&gt;&gt;</a:t>
                      </a:r>
                      <a:r>
                        <a:rPr 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для безопасного хранения </a:t>
                      </a:r>
                      <a:r>
                        <a:rPr lang="ru-RU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невладеющих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ссылок.</a:t>
                      </a:r>
                      <a:endParaRPr lang="ru-R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6741039"/>
                  </a:ext>
                </a:extLst>
              </a:tr>
            </a:tbl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95AD34-C267-4026-AC52-88B8EC8259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7683" y="1524298"/>
            <a:ext cx="2938780" cy="61527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D00AF76-6A27-1D19-04C5-12E1B92D36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4312" y="1524298"/>
            <a:ext cx="2734376" cy="6343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1B1E5-93F1-F587-5E25-DD5A5F7352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3318" y="2695353"/>
            <a:ext cx="2222411" cy="202308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370053C-2299-2285-A54F-CE117F8D0E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0666" y="2502936"/>
            <a:ext cx="2301668" cy="226326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F50B41C-E626-D3F4-2C53-3AB5B36B2B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19688" y="5254035"/>
            <a:ext cx="3454855" cy="956488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939C87F-F037-1EB6-9BA8-A5434DB6EAA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523" y="5291965"/>
            <a:ext cx="3387281" cy="977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7119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56170E-AAEB-47D8-D7D2-D5D2C5DED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07027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критических ошибок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D367B5A-6021-E1CE-85C1-D73934661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8327A13-2E2F-4F2E-8A82-1D293133525B}" type="slidenum">
              <a:rPr lang="ru-RU" smtClean="0"/>
              <a:pPr algn="ctr"/>
              <a:t>18</a:t>
            </a:fld>
            <a:endParaRPr lang="ru-RU"/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F08C1867-3DD9-177B-D2D4-18E3687EF5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8070612"/>
              </p:ext>
            </p:extLst>
          </p:nvPr>
        </p:nvGraphicFramePr>
        <p:xfrm>
          <a:off x="206943" y="556038"/>
          <a:ext cx="11680257" cy="6165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81261951"/>
                    </a:ext>
                  </a:extLst>
                </a:gridCol>
                <a:gridCol w="6232358">
                  <a:extLst>
                    <a:ext uri="{9D8B030D-6E8A-4147-A177-3AD203B41FA5}">
                      <a16:colId xmlns:a16="http://schemas.microsoft.com/office/drawing/2014/main" val="339801977"/>
                    </a:ext>
                  </a:extLst>
                </a:gridCol>
                <a:gridCol w="4899259">
                  <a:extLst>
                    <a:ext uri="{9D8B030D-6E8A-4147-A177-3AD203B41FA5}">
                      <a16:colId xmlns:a16="http://schemas.microsoft.com/office/drawing/2014/main" val="2888985733"/>
                    </a:ext>
                  </a:extLst>
                </a:gridCol>
              </a:tblGrid>
              <a:tr h="507848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Описание критической ошибки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Исправление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8013040"/>
                  </a:ext>
                </a:extLst>
              </a:tr>
              <a:tr h="885157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Теневая переменная </a:t>
                      </a:r>
                      <a:r>
                        <a:rPr lang="ru-RU" sz="1100" dirty="0" err="1"/>
                        <a:t>order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в методе </a:t>
                      </a:r>
                      <a:r>
                        <a:rPr lang="ru-RU" sz="1100" dirty="0" err="1"/>
                        <a:t>add_oder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оставляет член класса неинициализированным, что приводит к разыменованию нулевого указателя в </a:t>
                      </a:r>
                      <a:r>
                        <a:rPr lang="ru-RU" sz="1100" dirty="0" err="1"/>
                        <a:t>to_string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Убераем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создания новых </a:t>
                      </a:r>
                      <a:r>
                        <a:rPr lang="ru-RU" sz="1100" dirty="0" err="1"/>
                        <a:t>shared_ptr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из сырых указателей</a:t>
                      </a:r>
                      <a:endParaRPr lang="en-US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endParaRPr lang="en-US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34571"/>
                  </a:ext>
                </a:extLst>
              </a:tr>
              <a:tr h="2096917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Метод </a:t>
                      </a:r>
                      <a:r>
                        <a:rPr lang="ru-RU" sz="1100" dirty="0" err="1"/>
                        <a:t>get_top_sale_movie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разыменовывает нулевой указатель, если хранилище фильмов пусто или все продажи отрицательны, что приводит к краху приложения.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Теперь методы добавляют в член класса, а не параметры</a:t>
                      </a:r>
                    </a:p>
                    <a:p>
                      <a:pPr algn="ctr"/>
                      <a:endParaRPr lang="ru-RU" sz="1200" dirty="0"/>
                    </a:p>
                    <a:p>
                      <a:pPr algn="ctr"/>
                      <a:endParaRPr lang="ru-RU" sz="1200" dirty="0"/>
                    </a:p>
                    <a:p>
                      <a:pPr algn="ct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6973174"/>
                  </a:ext>
                </a:extLst>
              </a:tr>
              <a:tr h="133775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dirty="0"/>
                        <a:t>Циклическая зависимость из-за ненужного включения заголовочного файла. Файл включает </a:t>
                      </a:r>
                      <a:r>
                        <a:rPr lang="ru-RU" sz="1100" dirty="0" err="1"/>
                        <a:t>Movie.h</a:t>
                      </a:r>
                      <a:r>
                        <a:rPr lang="ru-RU" sz="1100" dirty="0"/>
                        <a:t>, но использует только </a:t>
                      </a:r>
                      <a:r>
                        <a:rPr lang="ru-RU" sz="1100" dirty="0" err="1"/>
                        <a:t>std</a:t>
                      </a:r>
                      <a:r>
                        <a:rPr lang="ru-RU" sz="1100" dirty="0"/>
                        <a:t>::</a:t>
                      </a:r>
                      <a:r>
                        <a:rPr lang="ru-RU" sz="1100" dirty="0" err="1"/>
                        <a:t>shared_ptr</a:t>
                      </a:r>
                      <a:r>
                        <a:rPr lang="ru-RU" sz="1100" dirty="0"/>
                        <a:t>&lt;Movie&gt;, что требует лишь предварительного объявления.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Убрали зависимость, оставили только указание что он существует.</a:t>
                      </a:r>
                      <a:endParaRPr lang="ru-R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6741039"/>
                  </a:ext>
                </a:extLst>
              </a:tr>
              <a:tr h="1337758">
                <a:tc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Проблема заключается в </a:t>
                      </a:r>
                      <a:r>
                        <a:rPr lang="ru-RU" sz="11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несоответствии подписей (сигнатур) функции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между заголовочным файлом (</a:t>
                      </a:r>
                      <a:r>
                        <a:rPr lang="ru-RU" sz="1100" dirty="0"/>
                        <a:t>.h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и файлом реализации (</a:t>
                      </a:r>
                      <a:r>
                        <a:rPr lang="ru-RU" sz="1100" dirty="0"/>
                        <a:t>.</a:t>
                      </a:r>
                      <a:r>
                        <a:rPr lang="ru-RU" sz="1100" dirty="0" err="1"/>
                        <a:t>cpp</a:t>
                      </a:r>
                      <a:r>
                        <a:rPr lang="ru-RU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).</a:t>
                      </a:r>
                    </a:p>
                    <a:p>
                      <a:pPr algn="ctr"/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94467"/>
                  </a:ext>
                </a:extLst>
              </a:tr>
            </a:tbl>
          </a:graphicData>
        </a:graphic>
      </p:graphicFrame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3F8B583-C5F4-D5E5-5A8D-D9626B704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7776" y="1444865"/>
            <a:ext cx="3680657" cy="44602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0717F49-7CED-17E8-C57F-14A5945708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1" y="1314241"/>
            <a:ext cx="2430552" cy="576649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4A83FA0-1E95-7B31-97C6-E7FA695784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6469" y="2326498"/>
            <a:ext cx="1243557" cy="164565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F76A56C3-5BC7-5F95-88EC-DA288E66F3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9802" y="2326498"/>
            <a:ext cx="2450351" cy="164565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C08F6B5A-C9EE-441F-BAF0-9F87DA2847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5965" y="4467340"/>
            <a:ext cx="1124797" cy="879471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48748B5A-E831-B0FA-1114-0B8714C3FC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68070" y="4441810"/>
            <a:ext cx="1886213" cy="905001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0572665-4469-C0E8-A281-DDE9D25D38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63416" y="5735519"/>
            <a:ext cx="3295520" cy="9115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54B037-102C-26A4-A16E-5735C34546C1}"/>
              </a:ext>
            </a:extLst>
          </p:cNvPr>
          <p:cNvSpPr txBox="1"/>
          <p:nvPr/>
        </p:nvSpPr>
        <p:spPr>
          <a:xfrm>
            <a:off x="7863416" y="5399479"/>
            <a:ext cx="34183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100" dirty="0">
                <a:solidFill>
                  <a:schemeClr val="dk1"/>
                </a:solidFill>
              </a:rPr>
              <a:t>Убран </a:t>
            </a:r>
            <a:r>
              <a:rPr lang="en-US" sz="1100" dirty="0">
                <a:solidFill>
                  <a:schemeClr val="dk1"/>
                </a:solidFill>
              </a:rPr>
              <a:t>const</a:t>
            </a:r>
            <a:endParaRPr lang="ru-RU" sz="1100" dirty="0">
              <a:solidFill>
                <a:schemeClr val="dk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C8ED7C8-098D-3E99-BF48-9A8C019C123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92232" y="6032455"/>
            <a:ext cx="4791744" cy="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2668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224F4E-81B3-0786-2937-18F8C57A3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1C6226F2-88F6-8ABE-8DFA-53CD181C0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19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43521C2-69B2-FE2D-9FEC-A25BE01F74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67" y="1998529"/>
            <a:ext cx="10325986" cy="3985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0009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br>
              <a:rPr lang="ru-RU" dirty="0"/>
            </a:b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838201" y="1328468"/>
            <a:ext cx="582248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Кросс-файловый анализ включён — </a:t>
            </a:r>
            <a:r>
              <a:rPr lang="ru-RU" dirty="0" err="1"/>
              <a:t>Kody</a:t>
            </a:r>
            <a:r>
              <a:rPr lang="ru-RU" dirty="0"/>
              <a:t> успешно обнаружил проблемы, затрагивающие несколько файлов (например, циклические зависимости между </a:t>
            </a:r>
            <a:r>
              <a:rPr lang="ru-RU" dirty="0" err="1"/>
              <a:t>Actor.h</a:t>
            </a:r>
            <a:r>
              <a:rPr lang="ru-RU" dirty="0"/>
              <a:t> и </a:t>
            </a:r>
            <a:r>
              <a:rPr lang="ru-RU" dirty="0" err="1"/>
              <a:t>Movie.h</a:t>
            </a:r>
            <a:r>
              <a:rPr lang="ru-RU" dirty="0"/>
              <a:t>).</a:t>
            </a:r>
          </a:p>
          <a:p>
            <a:endParaRPr lang="ru-RU" dirty="0"/>
          </a:p>
          <a:p>
            <a:r>
              <a:rPr lang="ru-RU" dirty="0"/>
              <a:t>Бизнес-логика проверялась — </a:t>
            </a:r>
            <a:r>
              <a:rPr lang="ru-RU" dirty="0" err="1"/>
              <a:t>Kody</a:t>
            </a:r>
            <a:r>
              <a:rPr lang="ru-RU" dirty="0"/>
              <a:t> выявил логическую ошибку в </a:t>
            </a:r>
            <a:r>
              <a:rPr lang="ru-RU" dirty="0" err="1"/>
              <a:t>add_directors</a:t>
            </a:r>
            <a:r>
              <a:rPr lang="ru-RU" dirty="0"/>
              <a:t> (метод модифицирует не тот вектор).</a:t>
            </a:r>
          </a:p>
          <a:p>
            <a:endParaRPr lang="ru-RU" dirty="0"/>
          </a:p>
          <a:p>
            <a:r>
              <a:rPr lang="ru-RU" dirty="0"/>
              <a:t>Интерактивность — бот предлагает пользователю реагировать на комментарии (👍 / 👎) для обучения модели.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Некоторые ошибки были </a:t>
            </a:r>
            <a:r>
              <a:rPr lang="en-US" dirty="0"/>
              <a:t>“</a:t>
            </a:r>
            <a:r>
              <a:rPr lang="ru-RU" dirty="0"/>
              <a:t>допущены</a:t>
            </a:r>
            <a:r>
              <a:rPr lang="en-US" dirty="0"/>
              <a:t>”</a:t>
            </a:r>
            <a:r>
              <a:rPr lang="ru-RU" dirty="0"/>
              <a:t> специально, из-за специфичной связи указателей на </a:t>
            </a:r>
            <a:r>
              <a:rPr lang="en-US" dirty="0"/>
              <a:t>C++</a:t>
            </a:r>
            <a:r>
              <a:rPr lang="ru-RU" dirty="0"/>
              <a:t>. </a:t>
            </a:r>
          </a:p>
          <a:p>
            <a:r>
              <a:rPr lang="ru-RU" dirty="0"/>
              <a:t>Но примечания по исправлению ошибок являются полезными и сильно упрощают процесс </a:t>
            </a:r>
            <a:r>
              <a:rPr lang="ru-RU" dirty="0" err="1"/>
              <a:t>дебаггинга</a:t>
            </a:r>
            <a:r>
              <a:rPr lang="ru-RU" dirty="0"/>
              <a:t>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20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4631298-715C-3ADA-7D54-B3B67E9D5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1194" y="1328468"/>
            <a:ext cx="4778207" cy="4879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5930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30589D-5BDA-D5F1-6EF1-ED8F1D8D9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источников и пожеланий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D674C5C-F2FB-8596-9410-8E8397F92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27A13-2E2F-4F2E-8A82-1D293133525B}" type="slidenum">
              <a:rPr lang="ru-RU" smtClean="0"/>
              <a:t>21</a:t>
            </a:fld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3BC7B-4443-4638-EB2B-5FC479B9463B}"/>
              </a:ext>
            </a:extLst>
          </p:cNvPr>
          <p:cNvSpPr txBox="1"/>
          <p:nvPr/>
        </p:nvSpPr>
        <p:spPr>
          <a:xfrm>
            <a:off x="943276" y="1867301"/>
            <a:ext cx="1019796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arenR"/>
            </a:pPr>
            <a:r>
              <a:rPr lang="ru-RU" dirty="0"/>
              <a:t>Учебное пособие по лабораторной работе (предоставлено преподавателем)</a:t>
            </a:r>
          </a:p>
          <a:p>
            <a:pPr marL="342900" indent="-342900">
              <a:buAutoNum type="arabicParenR"/>
            </a:pPr>
            <a:endParaRPr lang="ru-RU" dirty="0"/>
          </a:p>
          <a:p>
            <a:pPr marL="342900" indent="-342900">
              <a:buAutoNum type="arabicParenR"/>
            </a:pPr>
            <a:endParaRPr lang="ru-RU" dirty="0"/>
          </a:p>
          <a:p>
            <a:pPr marL="342900" indent="-342900">
              <a:buAutoNum type="arabicParenR"/>
            </a:pPr>
            <a:endParaRPr lang="ru-RU" dirty="0"/>
          </a:p>
          <a:p>
            <a:pPr marL="342900" indent="-342900">
              <a:buAutoNum type="arabicParenR"/>
            </a:pPr>
            <a:endParaRPr lang="ru-RU" dirty="0"/>
          </a:p>
          <a:p>
            <a:pPr marL="342900" indent="-342900">
              <a:buAutoNum type="arabicParenR"/>
            </a:pPr>
            <a:endParaRPr lang="ru-RU" dirty="0"/>
          </a:p>
          <a:p>
            <a:r>
              <a:rPr lang="ru-RU" dirty="0"/>
              <a:t>Иных материалов не потребовалось, так как процесс регистрации описан достаточно точно, по шагам, единственное, с чем возникли проблемы, это доступ к сайту </a:t>
            </a:r>
            <a:r>
              <a:rPr lang="en-US" dirty="0"/>
              <a:t>kodus.ai</a:t>
            </a:r>
            <a:r>
              <a:rPr lang="ru-RU" dirty="0"/>
              <a:t>, он осуществляется только с помощью личного приватного сервера. </a:t>
            </a:r>
          </a:p>
        </p:txBody>
      </p:sp>
    </p:spTree>
    <p:extLst>
      <p:ext uri="{BB962C8B-B14F-4D97-AF65-F5344CB8AC3E}">
        <p14:creationId xmlns:p14="http://schemas.microsoft.com/office/powerpoint/2010/main" val="390751227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1136</Words>
  <Application>Microsoft Office PowerPoint</Application>
  <PresentationFormat>Широкоэкранный</PresentationFormat>
  <Paragraphs>154</Paragraphs>
  <Slides>21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Оглавление</vt:lpstr>
      <vt:lpstr>Информация об инструменте</vt:lpstr>
      <vt:lpstr>Анализируемые языки программирования</vt:lpstr>
      <vt:lpstr>Начало статического анализа кода</vt:lpstr>
      <vt:lpstr>Уведомление о начале работы</vt:lpstr>
      <vt:lpstr>Уведомление об успешной проверке</vt:lpstr>
      <vt:lpstr>Первая критическая ошибка (shared_ptr между Actor и Movie)</vt:lpstr>
      <vt:lpstr>Вторая критическая ошибка(бесконечный цикл у add_geners и add_actors)</vt:lpstr>
      <vt:lpstr>Третья критическая ошибка (Хранение Movie* вместо weak_ptr&lt;Movie&gt;)</vt:lpstr>
      <vt:lpstr>Четвертая критическая ошибка(не неинициализированная переменная в order)</vt:lpstr>
      <vt:lpstr>Пятая критическая ошибка (нулевой указатель)</vt:lpstr>
      <vt:lpstr>Шестая критическая ошибка(циклическая зависимость у Movie.h)</vt:lpstr>
      <vt:lpstr>Первая НЕ критическая ошибка(не инициализирован std::shared_ptr&lt;Movie&gt; movie)</vt:lpstr>
      <vt:lpstr>Вторая НЕ критическая ошибка (добавление актеров, вместо режисеров)</vt:lpstr>
      <vt:lpstr>Еще одна критическая ошибка(отсутсвие указателя на константное значение)</vt:lpstr>
      <vt:lpstr>Таблица критических ошибок</vt:lpstr>
      <vt:lpstr>Таблица критических ошибок</vt:lpstr>
      <vt:lpstr>Результат</vt:lpstr>
      <vt:lpstr>Выводы </vt:lpstr>
      <vt:lpstr>Список источников и пожеланий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Вероника Зверь</dc:creator>
  <cp:lastModifiedBy>Stepan Nebovarenkov</cp:lastModifiedBy>
  <cp:revision>22</cp:revision>
  <dcterms:created xsi:type="dcterms:W3CDTF">2026-04-06T13:34:42Z</dcterms:created>
  <dcterms:modified xsi:type="dcterms:W3CDTF">2026-04-16T07:28:20Z</dcterms:modified>
</cp:coreProperties>
</file>