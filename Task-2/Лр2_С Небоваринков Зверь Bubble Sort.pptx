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2" r:id="rId13"/>
    <p:sldId id="273" r:id="rId14"/>
    <p:sldId id="274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6" r:id="rId25"/>
    <p:sldId id="287" r:id="rId26"/>
    <p:sldId id="288" r:id="rId27"/>
    <p:sldId id="289" r:id="rId28"/>
    <p:sldId id="290" r:id="rId29"/>
    <p:sldId id="291" r:id="rId30"/>
    <p:sldId id="293" r:id="rId31"/>
    <p:sldId id="294" r:id="rId32"/>
    <p:sldId id="295" r:id="rId33"/>
    <p:sldId id="296" r:id="rId34"/>
    <p:sldId id="297" r:id="rId35"/>
    <p:sldId id="299" r:id="rId36"/>
    <p:sldId id="271" r:id="rId37"/>
    <p:sldId id="292" r:id="rId38"/>
    <p:sldId id="302" r:id="rId39"/>
    <p:sldId id="303" r:id="rId40"/>
    <p:sldId id="304" r:id="rId41"/>
    <p:sldId id="305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306F6-CE7C-4693-8A4D-E0AF7A0D7E58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A90AC-0646-4599-ADBA-A0A07A85E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8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814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A90AC-0646-4599-ADBA-A0A07A85ED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599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A90AC-0646-4599-ADBA-A0A07A85ED4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170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A90AC-0646-4599-ADBA-A0A07A85ED4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633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4243-5DC4-4653-BD07-F05E00BC058B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59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2778-0620-4B70-AC47-EF0A8A5E4309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50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5AA7-0DB5-4DA0-B4CA-60A6D57F5095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04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69A4D-50F7-47E0-9664-7ACAF41C58AB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1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50B1-A6EE-4A85-BD04-206FE1ACDC18}" type="datetime1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B697-D28F-413C-B362-4AD565724645}" type="datetime1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99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B3257-FD8D-4694-9392-6D5E00B66A3D}" type="datetime1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40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DF05-0271-4D20-BE22-7CBC4CA5B4CF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49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8CA-0D2E-4636-8156-B701778F6388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62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C6A2-A614-406E-82FB-C2F459EA842D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30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DABD-7BEB-401F-8EC1-77030ACB8E9F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13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54B57-ADC6-4CFB-905F-2472EAC425B0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1E8A8-EF51-4730-8915-A507D0EDD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71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68ABC-F9C9-7674-7AC8-046D01A49FFB}"/>
              </a:ext>
            </a:extLst>
          </p:cNvPr>
          <p:cNvSpPr txBox="1"/>
          <p:nvPr/>
        </p:nvSpPr>
        <p:spPr>
          <a:xfrm>
            <a:off x="706580" y="2126746"/>
            <a:ext cx="5159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/>
              <a:t>Инструменты реверс-инжиниринга</a:t>
            </a:r>
            <a:endParaRPr lang="ru-RU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3276-700E-14FF-D019-58105A8A7754}"/>
              </a:ext>
            </a:extLst>
          </p:cNvPr>
          <p:cNvSpPr txBox="1"/>
          <p:nvPr/>
        </p:nvSpPr>
        <p:spPr>
          <a:xfrm>
            <a:off x="626301" y="5086198"/>
            <a:ext cx="63869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Выполнили: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Небоваринков Степан Константинович, ТКИ-341,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Зверь Вероника Владимировна, ТКИ-341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Проверили: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 т. н., проф. Сидоренко Валентина Геннадьевна,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</a:t>
            </a:r>
            <a:r>
              <a:rPr lang="en-US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к. т. н.</a:t>
            </a:r>
            <a:r>
              <a:rPr lang="en-US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415794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651135" cy="1325563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Исполняемый файл сортировки пузырьком компилируемый в </a:t>
            </a:r>
            <a:r>
              <a:rPr lang="en-US" sz="4000" dirty="0"/>
              <a:t>CLANG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6240" y="1966941"/>
            <a:ext cx="5363095" cy="2361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aaa</a:t>
            </a:r>
            <a:r>
              <a:rPr lang="en-US" sz="2400" dirty="0"/>
              <a:t> </a:t>
            </a:r>
            <a:r>
              <a:rPr lang="ru-RU" sz="2400" dirty="0"/>
              <a:t>- команда в r2 для автоматического анализа бинарного файла: поиск функций, перекрёстных ссылок и строк.</a:t>
            </a:r>
          </a:p>
          <a:p>
            <a:pPr marL="0" indent="0">
              <a:buNone/>
            </a:pPr>
            <a:r>
              <a:rPr lang="en-US" sz="2400" b="1" dirty="0" err="1"/>
              <a:t>i</a:t>
            </a:r>
            <a:r>
              <a:rPr lang="en-US" sz="2400" dirty="0"/>
              <a:t> - </a:t>
            </a:r>
            <a:r>
              <a:rPr lang="ru-RU" sz="2400" dirty="0"/>
              <a:t>команда для просмотра базовой информации о загруженном файле (тип, архитектура, размер)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 b="2802"/>
          <a:stretch/>
        </p:blipFill>
        <p:spPr>
          <a:xfrm>
            <a:off x="6489335" y="411989"/>
            <a:ext cx="5570054" cy="587961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1" b="69890"/>
          <a:stretch/>
        </p:blipFill>
        <p:spPr>
          <a:xfrm>
            <a:off x="496220" y="4187100"/>
            <a:ext cx="5907894" cy="210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978236" cy="1325563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в </a:t>
            </a:r>
            <a:r>
              <a:rPr lang="en-US" sz="3600" dirty="0"/>
              <a:t>CLANG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23708" y="398509"/>
            <a:ext cx="5590931" cy="1138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pds</a:t>
            </a:r>
            <a:r>
              <a:rPr lang="en-US" sz="2400" b="1" dirty="0"/>
              <a:t> (Print Disassembly Summary) </a:t>
            </a:r>
            <a:r>
              <a:rPr lang="en-US" sz="2400" dirty="0"/>
              <a:t>– </a:t>
            </a:r>
            <a:r>
              <a:rPr lang="ru-RU" sz="2400" dirty="0"/>
              <a:t>команда, показывающая функцию в виде упрощённого псевдокода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37" r="2369"/>
          <a:stretch/>
        </p:blipFill>
        <p:spPr>
          <a:xfrm>
            <a:off x="5351905" y="2850736"/>
            <a:ext cx="6517390" cy="350561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48" b="52434"/>
          <a:stretch/>
        </p:blipFill>
        <p:spPr>
          <a:xfrm>
            <a:off x="532777" y="3020575"/>
            <a:ext cx="3681413" cy="333577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123708" y="1459381"/>
            <a:ext cx="54723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pdf (Print Disassembly Function) </a:t>
            </a:r>
            <a:r>
              <a:rPr lang="en-US" sz="2400" dirty="0"/>
              <a:t>–</a:t>
            </a:r>
            <a:r>
              <a:rPr lang="ru-RU" sz="2400" dirty="0"/>
              <a:t> команда, показывающая дизассемблерный код всей функции</a:t>
            </a:r>
            <a:r>
              <a:rPr lang="en-US" sz="2400" dirty="0"/>
              <a:t>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2749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920047" cy="1325563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в </a:t>
            </a:r>
            <a:r>
              <a:rPr lang="en-US" sz="3600" dirty="0"/>
              <a:t>CLANG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29126" y="365125"/>
            <a:ext cx="4474055" cy="1778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pdi</a:t>
            </a:r>
            <a:r>
              <a:rPr lang="en-US" sz="2400" b="1" dirty="0"/>
              <a:t> (Print Disassembly Instructions) </a:t>
            </a:r>
            <a:r>
              <a:rPr lang="en-US" sz="2400" dirty="0"/>
              <a:t>- </a:t>
            </a:r>
            <a:r>
              <a:rPr lang="ru-RU" sz="2400" dirty="0"/>
              <a:t>это команда для показа дизассемблированного кода без лишней информации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4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83" r="7162" b="1"/>
          <a:stretch/>
        </p:blipFill>
        <p:spPr>
          <a:xfrm>
            <a:off x="3873544" y="2394065"/>
            <a:ext cx="4084862" cy="44639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7" r="6831" b="4650"/>
          <a:stretch/>
        </p:blipFill>
        <p:spPr>
          <a:xfrm>
            <a:off x="7958406" y="2829338"/>
            <a:ext cx="3853190" cy="40286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3794" b="49263"/>
          <a:stretch/>
        </p:blipFill>
        <p:spPr>
          <a:xfrm>
            <a:off x="344556" y="2053858"/>
            <a:ext cx="3528988" cy="48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9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13218" cy="1325563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в </a:t>
            </a:r>
            <a:r>
              <a:rPr lang="en-US" sz="3600" dirty="0"/>
              <a:t>CLANG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795443"/>
            <a:ext cx="5537662" cy="3270077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Граф</a:t>
            </a:r>
            <a:r>
              <a:rPr lang="ru-RU" dirty="0"/>
              <a:t> функции, демонстрирующий связи между базовыми блоками и логику выполнения программы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5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" t="1667" r="6011" b="5697"/>
          <a:stretch/>
        </p:blipFill>
        <p:spPr>
          <a:xfrm>
            <a:off x="6462964" y="48871"/>
            <a:ext cx="5075584" cy="635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512724" cy="1325563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в </a:t>
            </a:r>
            <a:r>
              <a:rPr lang="en-US" sz="3600" dirty="0"/>
              <a:t>CLANG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50232" y="2507934"/>
            <a:ext cx="9952991" cy="11648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/>
              <a:t>Дамп памяти </a:t>
            </a:r>
            <a:r>
              <a:rPr lang="ru-RU" sz="2400" dirty="0"/>
              <a:t>— это низкоуровневое представление данных программы в том виде, в котором они хранятся в памяти компьютера или в самом бинарном файле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50" y="3672785"/>
            <a:ext cx="9833956" cy="1221562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394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16780" cy="3223895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64 в режиме </a:t>
            </a:r>
            <a:r>
              <a:rPr lang="en-US" sz="3600" dirty="0"/>
              <a:t>debug</a:t>
            </a:r>
            <a:r>
              <a:rPr lang="ru-RU" sz="3600" dirty="0"/>
              <a:t> в </a:t>
            </a:r>
            <a:r>
              <a:rPr lang="en-US" sz="3600" dirty="0"/>
              <a:t>VS 2019</a:t>
            </a:r>
            <a:r>
              <a:rPr lang="ru-RU" sz="3600" dirty="0"/>
              <a:t>, команды </a:t>
            </a:r>
            <a:r>
              <a:rPr lang="en-US" sz="3600" dirty="0" err="1"/>
              <a:t>aaa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 err="1"/>
              <a:t>i</a:t>
            </a:r>
            <a:endParaRPr lang="ru-RU" sz="3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7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1" r="43427" b="70546"/>
          <a:stretch/>
        </p:blipFill>
        <p:spPr>
          <a:xfrm>
            <a:off x="838200" y="4462152"/>
            <a:ext cx="4427837" cy="18941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09" r="2525"/>
          <a:stretch/>
        </p:blipFill>
        <p:spPr>
          <a:xfrm>
            <a:off x="5435559" y="1074060"/>
            <a:ext cx="6669158" cy="528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52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093970" cy="3143885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64 в режиме </a:t>
            </a:r>
            <a:r>
              <a:rPr lang="en-US" sz="3600" dirty="0"/>
              <a:t>debug</a:t>
            </a:r>
            <a:r>
              <a:rPr lang="ru-RU" sz="3600" dirty="0"/>
              <a:t> в </a:t>
            </a:r>
            <a:r>
              <a:rPr lang="en-US" sz="3600" dirty="0"/>
              <a:t>VS 2019</a:t>
            </a:r>
            <a:r>
              <a:rPr lang="ru-RU" sz="3600" dirty="0"/>
              <a:t>, команды </a:t>
            </a:r>
            <a:r>
              <a:rPr lang="en-US" sz="3600" dirty="0" err="1"/>
              <a:t>pds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 err="1"/>
              <a:t>pdr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55519" y="1649176"/>
            <a:ext cx="5338141" cy="2114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pdr</a:t>
            </a:r>
            <a:r>
              <a:rPr lang="en-US" sz="2400" b="1" dirty="0"/>
              <a:t> (Print Disassembly Register) </a:t>
            </a:r>
            <a:r>
              <a:rPr lang="en-US" sz="2400" dirty="0"/>
              <a:t>– </a:t>
            </a:r>
            <a:r>
              <a:rPr lang="ru-RU" sz="2400" dirty="0"/>
              <a:t>команда, показывающая дизассемблированного кода функции с отображением локальных переменных и аргументов.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98" r="9020" b="6511"/>
          <a:stretch/>
        </p:blipFill>
        <p:spPr>
          <a:xfrm>
            <a:off x="6555520" y="3763374"/>
            <a:ext cx="5338141" cy="18685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84" b="55764"/>
          <a:stretch/>
        </p:blipFill>
        <p:spPr>
          <a:xfrm>
            <a:off x="838200" y="3763374"/>
            <a:ext cx="5299213" cy="1630638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082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6502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64 в режиме </a:t>
            </a:r>
            <a:r>
              <a:rPr lang="en-US" sz="3600" dirty="0"/>
              <a:t>debug</a:t>
            </a:r>
            <a:r>
              <a:rPr lang="ru-RU" sz="3600" dirty="0"/>
              <a:t> в </a:t>
            </a:r>
            <a:r>
              <a:rPr lang="en-US" sz="3600" dirty="0"/>
              <a:t>VS 2019</a:t>
            </a:r>
            <a:r>
              <a:rPr lang="ru-RU" sz="3600" dirty="0"/>
              <a:t>, команда </a:t>
            </a:r>
            <a:r>
              <a:rPr lang="en-US" sz="3600" dirty="0" err="1"/>
              <a:t>pdi</a:t>
            </a:r>
            <a:endParaRPr lang="ru-RU" sz="3600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8857422" y="250389"/>
            <a:ext cx="2743200" cy="365125"/>
          </a:xfrm>
        </p:spPr>
        <p:txBody>
          <a:bodyPr/>
          <a:lstStyle/>
          <a:p>
            <a:fld id="{4FB1E8A8-EF51-4730-8915-A507D0EDD00E}" type="slidenum">
              <a:rPr lang="ru-RU" smtClean="0"/>
              <a:t>9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87" b="45314"/>
          <a:stretch/>
        </p:blipFill>
        <p:spPr>
          <a:xfrm>
            <a:off x="315202" y="1698152"/>
            <a:ext cx="2862470" cy="515984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37" b="53720"/>
          <a:stretch/>
        </p:blipFill>
        <p:spPr>
          <a:xfrm>
            <a:off x="5935550" y="2755430"/>
            <a:ext cx="2956659" cy="41121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44" r="27736"/>
          <a:stretch/>
        </p:blipFill>
        <p:spPr>
          <a:xfrm>
            <a:off x="3177672" y="2686541"/>
            <a:ext cx="2757878" cy="41714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80" r="22265"/>
          <a:stretch/>
        </p:blipFill>
        <p:spPr>
          <a:xfrm>
            <a:off x="8892209" y="1999385"/>
            <a:ext cx="2955235" cy="485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31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для разрядности 64 в режиме </a:t>
            </a:r>
            <a:r>
              <a:rPr lang="en-US" dirty="0"/>
              <a:t>debug</a:t>
            </a:r>
            <a:r>
              <a:rPr lang="ru-RU" dirty="0"/>
              <a:t> в </a:t>
            </a:r>
            <a:r>
              <a:rPr lang="en-US" dirty="0"/>
              <a:t>VS 2019</a:t>
            </a:r>
            <a:r>
              <a:rPr lang="ru-RU" dirty="0"/>
              <a:t>, граф и </a:t>
            </a:r>
            <a:r>
              <a:rPr lang="en-US" dirty="0"/>
              <a:t>dump</a:t>
            </a:r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10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706" y="3062287"/>
            <a:ext cx="3429000" cy="34766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3214"/>
            <a:ext cx="9970012" cy="8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64 в режиме </a:t>
            </a:r>
            <a:r>
              <a:rPr lang="en-US" sz="3600" dirty="0"/>
              <a:t>debug</a:t>
            </a:r>
            <a:r>
              <a:rPr lang="ru-RU" sz="3600" dirty="0"/>
              <a:t> в </a:t>
            </a:r>
            <a:r>
              <a:rPr lang="en-US" sz="3600" dirty="0"/>
              <a:t>VS 2022, </a:t>
            </a:r>
            <a:r>
              <a:rPr lang="ru-RU" sz="3600" dirty="0"/>
              <a:t>команды </a:t>
            </a:r>
            <a:r>
              <a:rPr lang="en-US" sz="3600" dirty="0" err="1"/>
              <a:t>aaa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 err="1"/>
              <a:t>i</a:t>
            </a:r>
            <a:endParaRPr lang="ru-RU" sz="3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11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9" r="44121" b="70374"/>
          <a:stretch/>
        </p:blipFill>
        <p:spPr>
          <a:xfrm>
            <a:off x="7729643" y="3074670"/>
            <a:ext cx="4024251" cy="17260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0" b="1833"/>
          <a:stretch/>
        </p:blipFill>
        <p:spPr>
          <a:xfrm>
            <a:off x="838200" y="1767077"/>
            <a:ext cx="6774180" cy="49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20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для разрядности 64 в режиме </a:t>
            </a:r>
            <a:r>
              <a:rPr lang="en-US" dirty="0"/>
              <a:t>debug</a:t>
            </a:r>
            <a:r>
              <a:rPr lang="ru-RU" dirty="0"/>
              <a:t> в </a:t>
            </a:r>
            <a:r>
              <a:rPr lang="en-US" dirty="0"/>
              <a:t>VS 2022</a:t>
            </a:r>
            <a:r>
              <a:rPr lang="ru-RU" dirty="0"/>
              <a:t>, команды </a:t>
            </a:r>
            <a:r>
              <a:rPr lang="en-US" dirty="0" err="1"/>
              <a:t>pds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pdr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12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102" y="2120220"/>
            <a:ext cx="5467350" cy="21336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72" y="4710520"/>
            <a:ext cx="4451230" cy="139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23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для разрядности 64 в режиме </a:t>
            </a:r>
            <a:r>
              <a:rPr lang="en-US" dirty="0"/>
              <a:t>debug</a:t>
            </a:r>
            <a:r>
              <a:rPr lang="ru-RU" dirty="0"/>
              <a:t> в </a:t>
            </a:r>
            <a:r>
              <a:rPr lang="en-US" dirty="0"/>
              <a:t>VS 2022</a:t>
            </a:r>
            <a:r>
              <a:rPr lang="ru-RU" dirty="0"/>
              <a:t>, команда </a:t>
            </a:r>
            <a:r>
              <a:rPr lang="en-US" dirty="0" err="1"/>
              <a:t>pdi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13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95" b="47832"/>
          <a:stretch/>
        </p:blipFill>
        <p:spPr>
          <a:xfrm>
            <a:off x="344872" y="1887077"/>
            <a:ext cx="2810404" cy="44692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777" b="48502"/>
          <a:stretch/>
        </p:blipFill>
        <p:spPr>
          <a:xfrm>
            <a:off x="5863590" y="2376805"/>
            <a:ext cx="2970839" cy="397954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68" r="18108"/>
          <a:stretch/>
        </p:blipFill>
        <p:spPr>
          <a:xfrm>
            <a:off x="3155276" y="2414196"/>
            <a:ext cx="2708314" cy="394215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64" r="26969"/>
          <a:stretch/>
        </p:blipFill>
        <p:spPr>
          <a:xfrm>
            <a:off x="8839294" y="2651272"/>
            <a:ext cx="2990756" cy="370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39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для разрядности 64 в режиме </a:t>
            </a:r>
            <a:r>
              <a:rPr lang="en-US" dirty="0"/>
              <a:t>debug</a:t>
            </a:r>
            <a:r>
              <a:rPr lang="ru-RU" dirty="0"/>
              <a:t> в </a:t>
            </a:r>
            <a:r>
              <a:rPr lang="en-US" dirty="0"/>
              <a:t>VS 2022</a:t>
            </a:r>
            <a:r>
              <a:rPr lang="ru-RU" dirty="0"/>
              <a:t>, граф и </a:t>
            </a:r>
            <a:r>
              <a:rPr lang="en-US" dirty="0"/>
              <a:t>dump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14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2" t="9786" r="12000" b="10677"/>
          <a:stretch/>
        </p:blipFill>
        <p:spPr>
          <a:xfrm>
            <a:off x="4181475" y="1806089"/>
            <a:ext cx="3829050" cy="32575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" y="5179040"/>
            <a:ext cx="9919210" cy="7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2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98130" cy="1246505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в </a:t>
            </a:r>
            <a:r>
              <a:rPr lang="en-US" sz="3600" dirty="0"/>
              <a:t>GCC, </a:t>
            </a:r>
            <a:r>
              <a:rPr lang="ru-RU" sz="3600" dirty="0"/>
              <a:t>команды </a:t>
            </a:r>
            <a:r>
              <a:rPr lang="en-US" sz="3600" dirty="0" err="1"/>
              <a:t>aaa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 err="1"/>
              <a:t>i</a:t>
            </a:r>
            <a:endParaRPr lang="ru-RU" sz="3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15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3" r="4097" b="44191"/>
          <a:stretch/>
        </p:blipFill>
        <p:spPr>
          <a:xfrm>
            <a:off x="565697" y="2896075"/>
            <a:ext cx="4221568" cy="34602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07" b="3221"/>
          <a:stretch/>
        </p:blipFill>
        <p:spPr>
          <a:xfrm>
            <a:off x="8774430" y="309245"/>
            <a:ext cx="2579370" cy="604710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09" r="13792" b="1980"/>
          <a:stretch/>
        </p:blipFill>
        <p:spPr>
          <a:xfrm>
            <a:off x="4883468" y="3461543"/>
            <a:ext cx="3794759" cy="289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98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Исполняемый файл сортировки пузырьком компилируемый в </a:t>
            </a:r>
            <a:r>
              <a:rPr lang="en-US" dirty="0"/>
              <a:t>GCC, </a:t>
            </a:r>
            <a:r>
              <a:rPr lang="ru-RU" dirty="0"/>
              <a:t>команды </a:t>
            </a:r>
            <a:r>
              <a:rPr lang="en-US" dirty="0" err="1"/>
              <a:t>pds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pdf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0" y="1948180"/>
            <a:ext cx="7067550" cy="1771650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77322"/>
            <a:ext cx="6210300" cy="219075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966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6003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в </a:t>
            </a:r>
            <a:r>
              <a:rPr lang="en-US" dirty="0"/>
              <a:t>GCC, </a:t>
            </a:r>
            <a:r>
              <a:rPr lang="ru-RU" dirty="0"/>
              <a:t>команда </a:t>
            </a:r>
            <a:r>
              <a:rPr lang="en-US" dirty="0" err="1"/>
              <a:t>pdi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17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26" b="43666"/>
          <a:stretch/>
        </p:blipFill>
        <p:spPr>
          <a:xfrm>
            <a:off x="838200" y="1811938"/>
            <a:ext cx="3120141" cy="4726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00" r="7249" b="28"/>
          <a:stretch/>
        </p:blipFill>
        <p:spPr>
          <a:xfrm>
            <a:off x="4314825" y="1811938"/>
            <a:ext cx="5177790" cy="34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2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42962" y="320675"/>
            <a:ext cx="3692827" cy="3394075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в </a:t>
            </a:r>
            <a:r>
              <a:rPr lang="en-US" sz="3600" dirty="0"/>
              <a:t>GCC, </a:t>
            </a:r>
            <a:r>
              <a:rPr lang="ru-RU" sz="3600" dirty="0"/>
              <a:t>команда </a:t>
            </a:r>
            <a:r>
              <a:rPr lang="en-US" sz="3600" dirty="0" err="1"/>
              <a:t>pdi</a:t>
            </a:r>
            <a:r>
              <a:rPr lang="en-US" sz="3600" dirty="0"/>
              <a:t> (</a:t>
            </a:r>
            <a:r>
              <a:rPr lang="ru-RU" sz="3600" dirty="0"/>
              <a:t>продолжение</a:t>
            </a:r>
            <a:r>
              <a:rPr lang="en-US" sz="3600" dirty="0"/>
              <a:t>)</a:t>
            </a:r>
            <a:endParaRPr lang="ru-RU" sz="3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18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/>
          <a:lstStyle/>
          <a:p>
            <a:r>
              <a:rPr lang="en-US" dirty="0"/>
              <a:t>r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04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4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Исполняемый файл сортировки пузырьком компилируемый в </a:t>
            </a:r>
            <a:r>
              <a:rPr lang="en-US" sz="3600" dirty="0"/>
              <a:t>GCC, </a:t>
            </a:r>
            <a:r>
              <a:rPr lang="ru-RU" sz="3600" dirty="0"/>
              <a:t>граф и </a:t>
            </a:r>
            <a:r>
              <a:rPr lang="en-US" sz="3600" dirty="0"/>
              <a:t>dump</a:t>
            </a:r>
            <a:endParaRPr lang="ru-RU" sz="3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19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1690688"/>
            <a:ext cx="10229850" cy="140660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187" y="3302635"/>
            <a:ext cx="309562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08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32 в режиме </a:t>
            </a:r>
            <a:r>
              <a:rPr lang="en-US" sz="3600" dirty="0"/>
              <a:t>release</a:t>
            </a:r>
            <a:r>
              <a:rPr lang="ru-RU" sz="3600" dirty="0"/>
              <a:t> в </a:t>
            </a:r>
            <a:r>
              <a:rPr lang="en-US" sz="3600" dirty="0"/>
              <a:t>VS 2022</a:t>
            </a:r>
            <a:r>
              <a:rPr lang="ru-RU" sz="3600" dirty="0"/>
              <a:t>, команды </a:t>
            </a:r>
            <a:r>
              <a:rPr lang="en-US" sz="3600" dirty="0" err="1"/>
              <a:t>aaa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 err="1"/>
              <a:t>i</a:t>
            </a:r>
            <a:endParaRPr lang="ru-RU" sz="3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20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36" r="1780"/>
          <a:stretch/>
        </p:blipFill>
        <p:spPr>
          <a:xfrm>
            <a:off x="925402" y="1765659"/>
            <a:ext cx="6515528" cy="495581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9" r="41985" b="71721"/>
          <a:stretch/>
        </p:blipFill>
        <p:spPr>
          <a:xfrm>
            <a:off x="7684342" y="1765659"/>
            <a:ext cx="4077128" cy="170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9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899910" cy="1966595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32 в режиме </a:t>
            </a:r>
            <a:r>
              <a:rPr lang="en-US" sz="3600" dirty="0"/>
              <a:t>release</a:t>
            </a:r>
            <a:r>
              <a:rPr lang="ru-RU" sz="3600" dirty="0"/>
              <a:t> в </a:t>
            </a:r>
            <a:r>
              <a:rPr lang="en-US" sz="3600" dirty="0"/>
              <a:t>VS 2022</a:t>
            </a:r>
            <a:r>
              <a:rPr lang="ru-RU" sz="3600" dirty="0"/>
              <a:t>, команды </a:t>
            </a:r>
            <a:r>
              <a:rPr lang="en-US" sz="3600" dirty="0" err="1"/>
              <a:t>pds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/>
              <a:t>pdf</a:t>
            </a:r>
            <a:r>
              <a:rPr lang="ru-RU" sz="3600" dirty="0"/>
              <a:t>, </a:t>
            </a:r>
            <a:r>
              <a:rPr lang="en-US" sz="3600" dirty="0"/>
              <a:t>dump</a:t>
            </a:r>
            <a:endParaRPr lang="ru-RU" sz="3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21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04" r="50315"/>
          <a:stretch/>
        </p:blipFill>
        <p:spPr>
          <a:xfrm>
            <a:off x="7920990" y="365125"/>
            <a:ext cx="4103370" cy="234744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9" b="53448"/>
          <a:stretch/>
        </p:blipFill>
        <p:spPr>
          <a:xfrm>
            <a:off x="838200" y="2891145"/>
            <a:ext cx="8141970" cy="20574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127125"/>
            <a:ext cx="9970012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69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379971" cy="1544150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32 в режиме </a:t>
            </a:r>
            <a:r>
              <a:rPr lang="en-US" sz="3600" dirty="0"/>
              <a:t>release</a:t>
            </a:r>
            <a:r>
              <a:rPr lang="ru-RU" sz="3600" dirty="0"/>
              <a:t> в </a:t>
            </a:r>
            <a:r>
              <a:rPr lang="en-US" sz="3600" dirty="0"/>
              <a:t>VS 2022</a:t>
            </a:r>
            <a:r>
              <a:rPr lang="ru-RU" sz="3600" dirty="0"/>
              <a:t>, команд</a:t>
            </a:r>
            <a:r>
              <a:rPr lang="en-US" sz="3600" dirty="0"/>
              <a:t>a </a:t>
            </a:r>
            <a:r>
              <a:rPr lang="en-US" sz="3600" dirty="0" err="1"/>
              <a:t>pdi</a:t>
            </a:r>
            <a:endParaRPr lang="ru-RU" sz="3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052561" y="365125"/>
            <a:ext cx="2743200" cy="365125"/>
          </a:xfrm>
        </p:spPr>
        <p:txBody>
          <a:bodyPr/>
          <a:lstStyle/>
          <a:p>
            <a:fld id="{4FB1E8A8-EF51-4730-8915-A507D0EDD00E}" type="slidenum">
              <a:rPr lang="ru-RU" smtClean="0"/>
              <a:t>22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19" r="25613"/>
          <a:stretch/>
        </p:blipFill>
        <p:spPr>
          <a:xfrm>
            <a:off x="4505194" y="2512721"/>
            <a:ext cx="3663614" cy="434527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" r="4242" b="2323"/>
          <a:stretch/>
        </p:blipFill>
        <p:spPr>
          <a:xfrm>
            <a:off x="8168808" y="1532572"/>
            <a:ext cx="4023192" cy="53254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1" b="48014"/>
          <a:stretch/>
        </p:blipFill>
        <p:spPr>
          <a:xfrm>
            <a:off x="0" y="2320291"/>
            <a:ext cx="4554556" cy="45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26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6610350" y="970915"/>
            <a:ext cx="5151120" cy="1325563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32 в режиме </a:t>
            </a:r>
            <a:r>
              <a:rPr lang="en-US" sz="3600" dirty="0"/>
              <a:t>release</a:t>
            </a:r>
            <a:r>
              <a:rPr lang="ru-RU" sz="3600" dirty="0"/>
              <a:t> в </a:t>
            </a:r>
            <a:r>
              <a:rPr lang="en-US" sz="3600" dirty="0"/>
              <a:t>VS 2022</a:t>
            </a:r>
            <a:r>
              <a:rPr lang="ru-RU" sz="3600" dirty="0"/>
              <a:t>, граф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34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51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</a:t>
            </a:r>
            <a:r>
              <a:rPr lang="en-US" sz="3600" dirty="0"/>
              <a:t>64</a:t>
            </a:r>
            <a:r>
              <a:rPr lang="ru-RU" sz="3600" dirty="0"/>
              <a:t> в режиме </a:t>
            </a:r>
            <a:r>
              <a:rPr lang="en-US" sz="3600" dirty="0"/>
              <a:t>release</a:t>
            </a:r>
            <a:r>
              <a:rPr lang="ru-RU" sz="3600" dirty="0"/>
              <a:t> в </a:t>
            </a:r>
            <a:r>
              <a:rPr lang="en-US" sz="3600" dirty="0"/>
              <a:t>VS 2022</a:t>
            </a:r>
            <a:r>
              <a:rPr lang="ru-RU" sz="3600" dirty="0"/>
              <a:t>, команды </a:t>
            </a:r>
            <a:r>
              <a:rPr lang="en-US" sz="3600" dirty="0" err="1"/>
              <a:t>aaa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 err="1"/>
              <a:t>i</a:t>
            </a:r>
            <a:endParaRPr lang="ru-RU" sz="3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24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0" r="49349" b="70827"/>
          <a:stretch/>
        </p:blipFill>
        <p:spPr>
          <a:xfrm>
            <a:off x="7691351" y="1857889"/>
            <a:ext cx="3662449" cy="16563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28673" r="3805" b="1993"/>
          <a:stretch/>
        </p:blipFill>
        <p:spPr>
          <a:xfrm>
            <a:off x="838200" y="1857889"/>
            <a:ext cx="6579870" cy="486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93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6872299" cy="1898015"/>
          </a:xfrm>
        </p:spPr>
        <p:txBody>
          <a:bodyPr>
            <a:noAutofit/>
          </a:bodyPr>
          <a:lstStyle/>
          <a:p>
            <a:r>
              <a:rPr lang="ru-RU" sz="3600" dirty="0"/>
              <a:t>Исполняемый файл сортировки пузырьком компилируемый для разрядности </a:t>
            </a:r>
            <a:r>
              <a:rPr lang="en-US" sz="3600" dirty="0"/>
              <a:t>64</a:t>
            </a:r>
            <a:r>
              <a:rPr lang="ru-RU" sz="3600" dirty="0"/>
              <a:t> в режиме </a:t>
            </a:r>
            <a:r>
              <a:rPr lang="ru-RU" sz="3600" dirty="0" err="1"/>
              <a:t>release</a:t>
            </a:r>
            <a:r>
              <a:rPr lang="ru-RU" sz="3600" dirty="0"/>
              <a:t> в VS 2022, команды </a:t>
            </a:r>
            <a:r>
              <a:rPr lang="ru-RU" sz="3600" dirty="0" err="1"/>
              <a:t>pds</a:t>
            </a:r>
            <a:r>
              <a:rPr lang="ru-RU" sz="3600" dirty="0"/>
              <a:t> и </a:t>
            </a:r>
            <a:r>
              <a:rPr lang="ru-RU" sz="3600" dirty="0" err="1"/>
              <a:t>pdf</a:t>
            </a:r>
            <a:endParaRPr lang="ru-RU" sz="36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25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4" b="42474"/>
          <a:stretch/>
        </p:blipFill>
        <p:spPr>
          <a:xfrm>
            <a:off x="838200" y="2857341"/>
            <a:ext cx="8141947" cy="316706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57205" r="47968" b="3554"/>
          <a:stretch/>
        </p:blipFill>
        <p:spPr>
          <a:xfrm>
            <a:off x="7596199" y="365125"/>
            <a:ext cx="4291942" cy="216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61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для разрядности </a:t>
            </a:r>
            <a:r>
              <a:rPr lang="en-US" dirty="0"/>
              <a:t>64</a:t>
            </a:r>
            <a:r>
              <a:rPr lang="ru-RU" dirty="0"/>
              <a:t> в режиме </a:t>
            </a:r>
            <a:r>
              <a:rPr lang="en-US" dirty="0"/>
              <a:t>release</a:t>
            </a:r>
            <a:r>
              <a:rPr lang="ru-RU" dirty="0"/>
              <a:t> в </a:t>
            </a:r>
            <a:r>
              <a:rPr lang="en-US" dirty="0"/>
              <a:t>VS 2022</a:t>
            </a:r>
            <a:r>
              <a:rPr lang="ru-RU" dirty="0"/>
              <a:t>, команд</a:t>
            </a:r>
            <a:r>
              <a:rPr lang="en-US" dirty="0"/>
              <a:t>a </a:t>
            </a:r>
            <a:r>
              <a:rPr lang="en-US" dirty="0" err="1"/>
              <a:t>pdi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26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33"/>
          <a:stretch/>
        </p:blipFill>
        <p:spPr>
          <a:xfrm>
            <a:off x="838200" y="1855414"/>
            <a:ext cx="4101022" cy="450093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5118290" y="1842818"/>
            <a:ext cx="4132390" cy="451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12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5640705" y="902335"/>
            <a:ext cx="593979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для разрядности </a:t>
            </a:r>
            <a:r>
              <a:rPr lang="en-US" dirty="0"/>
              <a:t>64</a:t>
            </a:r>
            <a:r>
              <a:rPr lang="ru-RU" dirty="0"/>
              <a:t> в режиме </a:t>
            </a:r>
            <a:r>
              <a:rPr lang="en-US" dirty="0"/>
              <a:t>release</a:t>
            </a:r>
            <a:r>
              <a:rPr lang="ru-RU" dirty="0"/>
              <a:t> в </a:t>
            </a:r>
            <a:r>
              <a:rPr lang="en-US" dirty="0"/>
              <a:t>VS 2022</a:t>
            </a:r>
            <a:r>
              <a:rPr lang="ru-RU" dirty="0"/>
              <a:t>, граф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27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03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95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Исполняемый файл сортировки пузырьком компилируемый для разрядности </a:t>
            </a:r>
            <a:r>
              <a:rPr lang="en-US" dirty="0"/>
              <a:t>64</a:t>
            </a:r>
            <a:r>
              <a:rPr lang="ru-RU" dirty="0"/>
              <a:t> в режиме </a:t>
            </a:r>
            <a:r>
              <a:rPr lang="en-US" dirty="0"/>
              <a:t>release</a:t>
            </a:r>
            <a:r>
              <a:rPr lang="ru-RU" dirty="0"/>
              <a:t> в </a:t>
            </a:r>
            <a:r>
              <a:rPr lang="en-US" dirty="0"/>
              <a:t>VS 2022</a:t>
            </a:r>
            <a:r>
              <a:rPr lang="ru-RU" dirty="0"/>
              <a:t>, </a:t>
            </a:r>
            <a:r>
              <a:rPr lang="en-US" dirty="0"/>
              <a:t>dump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28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61352"/>
            <a:ext cx="9957312" cy="8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10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29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716" t="2068" r="1054" b="3126"/>
          <a:stretch/>
        </p:blipFill>
        <p:spPr>
          <a:xfrm>
            <a:off x="858078" y="412624"/>
            <a:ext cx="10495722" cy="241189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0485" y="2971612"/>
            <a:ext cx="105524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реверс инжиниринга самый рациональный из рассматриваемых файлов – файл компилируемый в </a:t>
            </a:r>
            <a:r>
              <a:rPr lang="en-US" dirty="0" err="1"/>
              <a:t>ggc</a:t>
            </a:r>
            <a:r>
              <a:rPr lang="ru-RU" dirty="0"/>
              <a:t>. Так как он содержит наибольшее количество кода, а именно импорты библиотек используемых в программе.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повседневного использования из анализируемых файлов лучше всего подходит </a:t>
            </a:r>
            <a:r>
              <a:rPr lang="en-US" dirty="0"/>
              <a:t>release 64</a:t>
            </a:r>
            <a:r>
              <a:rPr lang="ru-RU" dirty="0"/>
              <a:t>, так как он меньше всего весит и содержит минимум кода. 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28894" y="5987018"/>
            <a:ext cx="8092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Coverage percent – </a:t>
            </a:r>
            <a:r>
              <a:rPr lang="ru-RU" sz="1400" dirty="0"/>
              <a:t>метрика, показывающая какая часть исходного кода выполняется во время тестов.</a:t>
            </a:r>
            <a:r>
              <a:rPr lang="en-US" sz="1400" dirty="0"/>
              <a:t> 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28551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GHIDRA. Информация о файле и граф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5699"/>
            <a:ext cx="4023459" cy="435133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30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12" y="1475699"/>
            <a:ext cx="4262305" cy="509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75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GHIDRA. Псевдокод и дизассемблирование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6" y="1577514"/>
            <a:ext cx="3204411" cy="4992921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31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741" y="1577514"/>
            <a:ext cx="5490763" cy="400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10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41986"/>
            <a:ext cx="10515600" cy="1325563"/>
          </a:xfrm>
        </p:spPr>
        <p:txBody>
          <a:bodyPr/>
          <a:lstStyle/>
          <a:p>
            <a:r>
              <a:rPr lang="ru-RU" dirty="0"/>
              <a:t>Radare2. Информация о файле, граф, дизассемблирование 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7549"/>
            <a:ext cx="2688443" cy="5111939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596" y="2427621"/>
            <a:ext cx="3095625" cy="2676525"/>
          </a:xfrm>
          <a:prstGeom prst="rect">
            <a:avLst/>
          </a:prstGeom>
        </p:spPr>
      </p:pic>
      <p:pic>
        <p:nvPicPr>
          <p:cNvPr id="7" name="Объект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181" y="1469356"/>
            <a:ext cx="3489619" cy="488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31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Radare2. Команда </a:t>
            </a:r>
            <a:r>
              <a:rPr lang="en-US" dirty="0" err="1"/>
              <a:t>aaa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64"/>
          <a:stretch/>
        </p:blipFill>
        <p:spPr>
          <a:xfrm>
            <a:off x="1410892" y="2099447"/>
            <a:ext cx="3754665" cy="3196035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33</a:t>
            </a:fld>
            <a:endParaRPr lang="ru-RU"/>
          </a:p>
        </p:txBody>
      </p:sp>
      <p:pic>
        <p:nvPicPr>
          <p:cNvPr id="6" name="Объект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99"/>
          <a:stretch/>
        </p:blipFill>
        <p:spPr>
          <a:xfrm>
            <a:off x="6304547" y="2263311"/>
            <a:ext cx="4103918" cy="294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8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Radare2. Дизассемблирование и дампы памяти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77739"/>
            <a:ext cx="10515600" cy="1445895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34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50" y="2054273"/>
            <a:ext cx="62103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19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Ida</a:t>
            </a:r>
            <a:r>
              <a:rPr lang="ru-RU" dirty="0"/>
              <a:t>. Дампы памяти, граф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3150"/>
            <a:ext cx="6356858" cy="1540434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35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63584"/>
            <a:ext cx="9475304" cy="370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46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Ida</a:t>
            </a:r>
            <a:r>
              <a:rPr lang="ru-RU" dirty="0"/>
              <a:t>. Дизассемблирование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5874"/>
            <a:ext cx="10693593" cy="4678447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640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Ida</a:t>
            </a:r>
            <a:r>
              <a:rPr lang="ru-RU" dirty="0"/>
              <a:t>. Псевдокод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676" y="1230532"/>
            <a:ext cx="6410745" cy="512581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07" y="3880777"/>
            <a:ext cx="1839178" cy="229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76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x64dbg. </a:t>
            </a:r>
            <a:r>
              <a:rPr lang="ru-RU" dirty="0"/>
              <a:t>Дизассемблирование, граф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D88AE2-9FB2-C4EE-4F90-CB203B10F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0428"/>
            <a:ext cx="6855579" cy="16064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214091-E95B-620E-CA8E-0DE8FE5B6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338" y="3781185"/>
            <a:ext cx="4899889" cy="27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75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x64dbg.</a:t>
            </a:r>
            <a:r>
              <a:rPr lang="ru-RU" dirty="0"/>
              <a:t> Дампы памяти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39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2071FF-3989-88F9-04BE-41C0B1BED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2435607"/>
            <a:ext cx="7540147" cy="317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69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25893" y="80454"/>
            <a:ext cx="3303143" cy="1325563"/>
          </a:xfrm>
        </p:spPr>
        <p:txBody>
          <a:bodyPr/>
          <a:lstStyle/>
          <a:p>
            <a:r>
              <a:rPr lang="ru-RU" dirty="0"/>
              <a:t>Сравнение программ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40</a:t>
            </a:fld>
            <a:endParaRPr lang="ru-RU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8F224AA-3E6D-35E6-5383-E9A064A4E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25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40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E8A8-EF51-4730-8915-A507D0EDD00E}" type="slidenum">
              <a:rPr lang="ru-RU" smtClean="0"/>
              <a:t>41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1690688"/>
            <a:ext cx="93841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Все инструменты применялись к одному и тому же отладочному исполняемому файлу сортировки пузырьком компилируемого в </a:t>
            </a:r>
            <a:r>
              <a:rPr lang="en-US" dirty="0"/>
              <a:t>GCC. </a:t>
            </a:r>
            <a:r>
              <a:rPr lang="ru-RU" dirty="0"/>
              <a:t>В </a:t>
            </a:r>
            <a:r>
              <a:rPr lang="en-US" dirty="0"/>
              <a:t>IDA </a:t>
            </a:r>
            <a:r>
              <a:rPr lang="ru-RU" dirty="0"/>
              <a:t>мы использовали список функций и графы потока управления, чтобы увидеть структуру программы и взаимосвязь </a:t>
            </a:r>
            <a:r>
              <a:rPr lang="en-US" dirty="0"/>
              <a:t>main, </a:t>
            </a:r>
            <a:r>
              <a:rPr lang="en-US" dirty="0" err="1"/>
              <a:t>bubleSort</a:t>
            </a:r>
            <a:r>
              <a:rPr lang="en-US" dirty="0"/>
              <a:t>, </a:t>
            </a:r>
            <a:r>
              <a:rPr lang="en-US" dirty="0" err="1"/>
              <a:t>getNumber</a:t>
            </a:r>
            <a:r>
              <a:rPr lang="en-US" dirty="0"/>
              <a:t>. </a:t>
            </a:r>
            <a:r>
              <a:rPr lang="ru-RU" dirty="0"/>
              <a:t>В </a:t>
            </a:r>
            <a:r>
              <a:rPr lang="en-US" dirty="0" err="1"/>
              <a:t>Ghidra</a:t>
            </a:r>
            <a:r>
              <a:rPr lang="en-US" dirty="0"/>
              <a:t> </a:t>
            </a:r>
            <a:r>
              <a:rPr lang="ru-RU" dirty="0"/>
              <a:t>анализ был сосредоточен на </a:t>
            </a:r>
            <a:r>
              <a:rPr lang="ru-RU" dirty="0" err="1"/>
              <a:t>декомпилированном</a:t>
            </a:r>
            <a:r>
              <a:rPr lang="ru-RU" dirty="0"/>
              <a:t> </a:t>
            </a:r>
            <a:r>
              <a:rPr lang="en-US" dirty="0"/>
              <a:t>C-</a:t>
            </a:r>
            <a:r>
              <a:rPr lang="ru-RU" dirty="0"/>
              <a:t>подобном коде: по строке </a:t>
            </a:r>
            <a:r>
              <a:rPr lang="en-US" dirty="0"/>
              <a:t>“</a:t>
            </a:r>
            <a:r>
              <a:rPr lang="en-US" dirty="0" err="1"/>
              <a:t>bubleSort</a:t>
            </a:r>
            <a:r>
              <a:rPr lang="en-US" dirty="0"/>
              <a:t>:” </a:t>
            </a:r>
            <a:r>
              <a:rPr lang="ru-RU" dirty="0"/>
              <a:t>удалось найти </a:t>
            </a:r>
            <a:r>
              <a:rPr lang="en-US" dirty="0"/>
              <a:t>main </a:t>
            </a:r>
            <a:r>
              <a:rPr lang="ru-RU" dirty="0"/>
              <a:t>и по цепочке вызовов восстановить логику сортировки.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Из сравнений пяти средств анализа можно сделать вывод о том, что лучшими программами для реверс-инжиниринга на наш взгляд являются </a:t>
            </a:r>
            <a:r>
              <a:rPr lang="en-US" dirty="0"/>
              <a:t>IDA </a:t>
            </a:r>
            <a:r>
              <a:rPr lang="ru-RU" dirty="0"/>
              <a:t>и </a:t>
            </a:r>
            <a:r>
              <a:rPr lang="en-US" dirty="0" err="1"/>
              <a:t>Ghidra</a:t>
            </a:r>
            <a:r>
              <a:rPr lang="ru-RU" dirty="0"/>
              <a:t>, так как они имеют самый обширный функционал. А лучшим .</a:t>
            </a:r>
            <a:r>
              <a:rPr lang="en-US" dirty="0"/>
              <a:t>exe </a:t>
            </a:r>
            <a:r>
              <a:rPr lang="ru-RU" dirty="0"/>
              <a:t>файлом для реверс-инжиниринга является файл сортировки пузырьком компилируемый в </a:t>
            </a:r>
            <a:r>
              <a:rPr lang="en-US" dirty="0"/>
              <a:t>GCC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73064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866</Words>
  <Application>Microsoft Office PowerPoint</Application>
  <PresentationFormat>Широкоэкранный</PresentationFormat>
  <Paragraphs>104</Paragraphs>
  <Slides>41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Тема Office</vt:lpstr>
      <vt:lpstr>Презентация PowerPoint</vt:lpstr>
      <vt:lpstr>Исполняемый файл сортировки пузырьком компилируемый в CLANG</vt:lpstr>
      <vt:lpstr>Исполняемый файл сортировки пузырьком компилируемый в CLANG</vt:lpstr>
      <vt:lpstr>Исполняемый файл сортировки пузырьком компилируемый в CLANG</vt:lpstr>
      <vt:lpstr>Исполняемый файл сортировки пузырьком компилируемый в CLANG</vt:lpstr>
      <vt:lpstr>Исполняемый файл сортировки пузырьком компилируемый в CLANG</vt:lpstr>
      <vt:lpstr>Исполняемый файл сортировки пузырьком компилируемый для разрядности 64 в режиме debug в VS 2019, команды aaa и i</vt:lpstr>
      <vt:lpstr>Исполняемый файл сортировки пузырьком компилируемый для разрядности 64 в режиме debug в VS 2019, команды pds и pdr</vt:lpstr>
      <vt:lpstr>Исполняемый файл сортировки пузырьком компилируемый для разрядности 64 в режиме debug в VS 2019, команда pdi</vt:lpstr>
      <vt:lpstr>Исполняемый файл сортировки пузырьком компилируемый для разрядности 64 в режиме debug в VS 2019, граф и dump</vt:lpstr>
      <vt:lpstr>Исполняемый файл сортировки пузырьком компилируемый для разрядности 64 в режиме debug в VS 2022, команды aaa и i</vt:lpstr>
      <vt:lpstr>Исполняемый файл сортировки пузырьком компилируемый для разрядности 64 в режиме debug в VS 2022, команды pds и pdr</vt:lpstr>
      <vt:lpstr>Исполняемый файл сортировки пузырьком компилируемый для разрядности 64 в режиме debug в VS 2022, команда pdi</vt:lpstr>
      <vt:lpstr>Исполняемый файл сортировки пузырьком компилируемый для разрядности 64 в режиме debug в VS 2022, граф и dump</vt:lpstr>
      <vt:lpstr>Исполняемый файл сортировки пузырьком компилируемый в GCC, команды aaa и i</vt:lpstr>
      <vt:lpstr>Исполняемый файл сортировки пузырьком компилируемый в GCC, команды pds и pdf</vt:lpstr>
      <vt:lpstr>Исполняемый файл сортировки пузырьком компилируемый в GCC, команда pdi</vt:lpstr>
      <vt:lpstr>Исполняемый файл сортировки пузырьком компилируемый в GCC, команда pdi (продолжение)</vt:lpstr>
      <vt:lpstr>Исполняемый файл сортировки пузырьком компилируемый в GCC, граф и dump</vt:lpstr>
      <vt:lpstr>Исполняемый файл сортировки пузырьком компилируемый для разрядности 32 в режиме release в VS 2022, команды aaa и i</vt:lpstr>
      <vt:lpstr>Исполняемый файл сортировки пузырьком компилируемый для разрядности 32 в режиме release в VS 2022, команды pds и pdf, dump</vt:lpstr>
      <vt:lpstr>Исполняемый файл сортировки пузырьком компилируемый для разрядности 32 в режиме release в VS 2022, командa pdi</vt:lpstr>
      <vt:lpstr>Исполняемый файл сортировки пузырьком компилируемый для разрядности 32 в режиме release в VS 2022, граф</vt:lpstr>
      <vt:lpstr>Исполняемый файл сортировки пузырьком компилируемый для разрядности 64 в режиме release в VS 2022, команды aaa и i</vt:lpstr>
      <vt:lpstr>Исполняемый файл сортировки пузырьком компилируемый для разрядности 64 в режиме release в VS 2022, команды pds и pdf</vt:lpstr>
      <vt:lpstr>Исполняемый файл сортировки пузырьком компилируемый для разрядности 64 в режиме release в VS 2022, командa pdi</vt:lpstr>
      <vt:lpstr>Исполняемый файл сортировки пузырьком компилируемый для разрядности 64 в режиме release в VS 2022, граф</vt:lpstr>
      <vt:lpstr>Исполняемый файл сортировки пузырьком компилируемый для разрядности 64 в режиме release в VS 2022, dump</vt:lpstr>
      <vt:lpstr>Презентация PowerPoint</vt:lpstr>
      <vt:lpstr>GHIDRA. Информация о файле и граф </vt:lpstr>
      <vt:lpstr>GHIDRA. Псевдокод и дизассемблирование </vt:lpstr>
      <vt:lpstr>Radare2. Информация о файле, граф, дизассемблирование  </vt:lpstr>
      <vt:lpstr>Radare2. Команда aaa</vt:lpstr>
      <vt:lpstr>Radare2. Дизассемблирование и дампы памяти </vt:lpstr>
      <vt:lpstr>Ida. Дампы памяти, граф</vt:lpstr>
      <vt:lpstr>Ida. Дизассемблирование</vt:lpstr>
      <vt:lpstr>Ida. Псевдокод</vt:lpstr>
      <vt:lpstr>x64dbg. Дизассемблирование, граф</vt:lpstr>
      <vt:lpstr>x64dbg. Дампы памяти</vt:lpstr>
      <vt:lpstr>Сравнение программ</vt:lpstr>
      <vt:lpstr>Выводы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А.И. Сафронов</cp:lastModifiedBy>
  <cp:revision>51</cp:revision>
  <dcterms:created xsi:type="dcterms:W3CDTF">2026-02-26T11:35:58Z</dcterms:created>
  <dcterms:modified xsi:type="dcterms:W3CDTF">2026-03-23T16:11:55Z</dcterms:modified>
</cp:coreProperties>
</file>